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4" y="5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📱  واتساب بيزنس – التكامل مع 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400" b="0">
                <a:solidFill>
                  <a:srgbClr val="25D366"/>
                </a:solidFill>
                <a:latin typeface="Segoe UI"/>
              </a:defRPr>
            </a:pPr>
            <a:r>
              <a:t>دليل شامل للمميزات، التسعير، والخطوات اللازمة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0">
                <a:solidFill>
                  <a:srgbClr val="B0BEC5"/>
                </a:solidFill>
                <a:latin typeface="Segoe UI"/>
              </a:defRPr>
            </a:pPr>
            <a:r>
              <a:t>WhatsApp Cloud API  ·  Meta Business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ما هو واتساب بيزنس؟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حل من Meta يتيح للشركات التواصل مع عملائها باحترافية عبر واتساب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59775" y="1828800"/>
            <a:ext cx="3474720" cy="32004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96935" y="1938528"/>
            <a:ext cx="3200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1">
                <a:solidFill>
                  <a:srgbClr val="B0BEC5"/>
                </a:solidFill>
                <a:latin typeface="Segoe UI"/>
              </a:defRPr>
            </a:pPr>
            <a:r>
              <a:rPr dirty="0"/>
              <a:t>📱  </a:t>
            </a:r>
            <a:r>
              <a:rPr sz="1400" dirty="0"/>
              <a:t>WhatsApp</a:t>
            </a:r>
            <a:r>
              <a:rPr dirty="0"/>
              <a:t> Business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42655" y="2423160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تطبيق مجاني للهاتف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2655" y="2715768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مناسب</a:t>
            </a:r>
            <a:r>
              <a:rPr dirty="0"/>
              <a:t> </a:t>
            </a:r>
            <a:r>
              <a:rPr dirty="0" err="1"/>
              <a:t>للأعمال</a:t>
            </a:r>
            <a:r>
              <a:rPr dirty="0"/>
              <a:t> </a:t>
            </a:r>
            <a:r>
              <a:rPr dirty="0" err="1"/>
              <a:t>الصغيرة</a:t>
            </a:r>
            <a:r>
              <a:rPr dirty="0"/>
              <a:t> (1-5 </a:t>
            </a:r>
            <a:r>
              <a:rPr dirty="0" err="1"/>
              <a:t>موظفين</a:t>
            </a:r>
            <a:r>
              <a:rPr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5" y="3008376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رسائل ترحيب بسيطة فقط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2655" y="3300984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بدون أتمتة أو تكامل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2655" y="3593592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جهاز واحد إلى 4 أجهزة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5015" y="1828800"/>
            <a:ext cx="3474720" cy="32004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2175" y="1938528"/>
            <a:ext cx="32004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1">
                <a:solidFill>
                  <a:srgbClr val="FF9800"/>
                </a:solidFill>
                <a:latin typeface="Segoe UI"/>
              </a:defRPr>
            </a:pPr>
            <a:r>
              <a:rPr sz="1400" dirty="0"/>
              <a:t>🏢  WhatsApp Business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7895" y="2423160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واجهة برمجة تطبيقات (API)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7895" y="2715768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للشركات المتوسطة والكبيرة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7895" y="3008376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أتمتة كاملة + Chatbots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7895" y="3300984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تكامل مع CRM, ERP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7895" y="3593592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يحتاج استضافة خاصة (On-Premise)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0255" y="1828800"/>
            <a:ext cx="3474720" cy="32004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7415" y="1938528"/>
            <a:ext cx="32004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1">
                <a:solidFill>
                  <a:srgbClr val="25D366"/>
                </a:solidFill>
                <a:latin typeface="Segoe UI"/>
              </a:defRPr>
            </a:pPr>
            <a:r>
              <a:rPr sz="1400" dirty="0"/>
              <a:t>☁️  WhatsApp Cloud API  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" y="2423160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API مستضاف على سيرفرات Meta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" y="2715768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إعداد سريع بدون سيرفر خاص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" y="3008376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تحديثات تلقائية من Meta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" y="3300984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تكلفة أقل + موثوقية عالية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" y="3593592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الخيار الأفضل للشركات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600" b="1">
                <a:solidFill>
                  <a:srgbClr val="FFD54F"/>
                </a:solidFill>
                <a:latin typeface="Segoe UI"/>
              </a:defRPr>
            </a:pPr>
            <a:r>
              <a:t>☁️  Cloud API هو الخيار الأمثل – مستضاف على Meta، تكلفة أقل، وإعداد أسرع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⛔  المتطلبات الإلزامية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جميع المتطلبات التالية إلزامية – بدونها لن تتمكن من استخدام WhatsApp Cloud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155680" cy="59436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1847088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847088"/>
            <a:ext cx="3200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حساب Meta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47088"/>
            <a:ext cx="19202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5352"/>
                </a:solidFill>
                <a:latin typeface="Segoe UI"/>
              </a:defRPr>
            </a:pPr>
            <a:r>
              <a:t>إلزامي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4389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يجب إنشاؤه وتفعيله قبل أي خطوة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95728"/>
            <a:ext cx="11155680" cy="594360"/>
          </a:xfrm>
          <a:prstGeom prst="roundRect">
            <a:avLst/>
          </a:prstGeom>
          <a:solidFill>
            <a:srgbClr val="15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0" y="2505456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05456"/>
            <a:ext cx="3200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التحقق من النشاط التجاري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505456"/>
            <a:ext cx="19202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5352"/>
                </a:solidFill>
                <a:latin typeface="Segoe UI"/>
              </a:defRPr>
            </a:pPr>
            <a:r>
              <a:t>إلزامي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05456"/>
            <a:ext cx="4389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بدونه محدود بـ 250 محادثة فقط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54096"/>
            <a:ext cx="11155680" cy="59436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0" y="3163824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163824"/>
            <a:ext cx="3200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تطبيق Meta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163824"/>
            <a:ext cx="19202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5352"/>
                </a:solidFill>
                <a:latin typeface="Segoe UI"/>
              </a:defRPr>
            </a:pPr>
            <a:r>
              <a:t>إلزامي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63824"/>
            <a:ext cx="4389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البوابة الوحيدة للوصول لـ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12464"/>
            <a:ext cx="11155680" cy="594360"/>
          </a:xfrm>
          <a:prstGeom prst="roundRect">
            <a:avLst/>
          </a:prstGeom>
          <a:solidFill>
            <a:srgbClr val="15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0" y="3822192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822192"/>
            <a:ext cx="3200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رقم هاتف مخصص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22192"/>
            <a:ext cx="19202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5352"/>
                </a:solidFill>
                <a:latin typeface="Segoe UI"/>
              </a:defRPr>
            </a:pPr>
            <a:r>
              <a:t>إلزامي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22192"/>
            <a:ext cx="4389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سيُفصل نهائياً من التطبيق العادي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70832"/>
            <a:ext cx="11155680" cy="59436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0" y="4480560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480560"/>
            <a:ext cx="3200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نطاق إنترنت (Domain)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480560"/>
            <a:ext cx="19202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9800"/>
                </a:solidFill>
                <a:latin typeface="Segoe UI"/>
              </a:defRPr>
            </a:pPr>
            <a:r>
              <a:t>مطلوب بشدة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80560"/>
            <a:ext cx="4389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ضروري للتحقق من النشاط التجاري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29200"/>
            <a:ext cx="11155680" cy="594360"/>
          </a:xfrm>
          <a:prstGeom prst="roundRect">
            <a:avLst/>
          </a:prstGeom>
          <a:solidFill>
            <a:srgbClr val="15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0" y="5138928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138928"/>
            <a:ext cx="3200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شركة متخصصة لإدارة الحساب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138928"/>
            <a:ext cx="19202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5352"/>
                </a:solidFill>
                <a:latin typeface="Segoe UI"/>
              </a:defRPr>
            </a:pPr>
            <a:r>
              <a:t>إلزامي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38928"/>
            <a:ext cx="4389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Meta توفر API فقط – بدون واجهة إدارة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115568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600" b="1">
                <a:solidFill>
                  <a:srgbClr val="FF5352"/>
                </a:solidFill>
                <a:latin typeface="Segoe UI"/>
              </a:defRPr>
            </a:pPr>
            <a:r>
              <a:t>⚠️  بدون شركة متخصصة = لا واجهة، لا إرسال، لا استقبال، لا إدارة للرسائل!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🏢  لماذا تحتاج شركة متخصصة؟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rPr lang="en-US" dirty="0"/>
              <a:t>Meta </a:t>
            </a:r>
            <a:r>
              <a:rPr lang="ar-EG" dirty="0"/>
              <a:t> </a:t>
            </a:r>
            <a:r>
              <a:rPr lang="ar-EG" dirty="0">
                <a:solidFill>
                  <a:srgbClr val="00B050"/>
                </a:solidFill>
              </a:rPr>
              <a:t>توفر</a:t>
            </a:r>
            <a:r>
              <a:rPr lang="ar-EG" dirty="0"/>
              <a:t> فقط الـ </a:t>
            </a:r>
            <a:r>
              <a:rPr lang="en-US" dirty="0"/>
              <a:t>API </a:t>
            </a:r>
            <a:r>
              <a:rPr lang="ar-EG" dirty="0"/>
              <a:t> (واجهة برمجية خام) – </a:t>
            </a:r>
            <a:r>
              <a:rPr lang="ar-EG" dirty="0">
                <a:solidFill>
                  <a:srgbClr val="FF0000"/>
                </a:solidFill>
              </a:rPr>
              <a:t>لا توفر</a:t>
            </a:r>
            <a:r>
              <a:rPr lang="ar-EG" dirty="0"/>
              <a:t> أي واجهة أو تطبيق لإدارة الرسائل!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14055" y="1737360"/>
            <a:ext cx="352044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51215" y="1874520"/>
            <a:ext cx="3246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25D366"/>
                </a:solidFill>
                <a:latin typeface="Segoe UI"/>
              </a:defRPr>
            </a:pPr>
            <a:r>
              <a:t>⚙️  إنشاء وتكوين الحساب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2377440"/>
            <a:ext cx="3246120" cy="11887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إعداد تقني معقد يتضمن</a:t>
            </a:r>
            <a:br/>
            <a:r>
              <a:t>Meta Business + Developer App + Webhooks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3575" y="1737360"/>
            <a:ext cx="352044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0735" y="1874520"/>
            <a:ext cx="3246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25D366"/>
                </a:solidFill>
                <a:latin typeface="Segoe UI"/>
              </a:defRPr>
            </a:pPr>
            <a:r>
              <a:t>🖥️  بناء منصة الإدارة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0735" y="2377440"/>
            <a:ext cx="3246120" cy="11887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واجهة كاملة لعرض وإرسال</a:t>
            </a:r>
            <a:br/>
            <a:r>
              <a:t>واستقبال وإدارة الرسائل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095" y="1737360"/>
            <a:ext cx="352044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255" y="1874520"/>
            <a:ext cx="3246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25D366"/>
                </a:solidFill>
                <a:latin typeface="Segoe UI"/>
              </a:defRPr>
            </a:pPr>
            <a:r>
              <a:t>🌐  ربط الـ Webhook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" y="2377440"/>
            <a:ext cx="3246120" cy="11887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سيرفر HTTPS ثابت يعمل 24/7</a:t>
            </a:r>
            <a:br/>
            <a:r>
              <a:t>لاستقبال الرسائل فورياً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4055" y="4023360"/>
            <a:ext cx="352044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1215" y="4160520"/>
            <a:ext cx="3246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25D366"/>
                </a:solidFill>
                <a:latin typeface="Segoe UI"/>
              </a:defRPr>
            </a:pPr>
            <a:r>
              <a:t>📋  إدارة القوالب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215" y="4663440"/>
            <a:ext cx="3246120" cy="11887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إنشاء ومراجعة واعتماد قوالب الرسائل</a:t>
            </a:r>
            <a:br/>
            <a:r>
              <a:t>بخبرة بسياسات Meta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3575" y="4023360"/>
            <a:ext cx="352044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10735" y="4160520"/>
            <a:ext cx="3246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25D366"/>
                </a:solidFill>
                <a:latin typeface="Segoe UI"/>
              </a:defRPr>
            </a:pPr>
            <a:r>
              <a:t>🤖  الأتمتة و Chatbots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0735" y="4663440"/>
            <a:ext cx="3246120" cy="11887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بناء سيناريوهات تفاعلية وربطها</a:t>
            </a:r>
            <a:br/>
            <a:r>
              <a:t>بقواعد البيانات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095" y="4023360"/>
            <a:ext cx="352044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255" y="4160520"/>
            <a:ext cx="3246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25D366"/>
                </a:solidFill>
                <a:latin typeface="Segoe UI"/>
              </a:defRPr>
            </a:pPr>
            <a:r>
              <a:t>🔒  الأمان والصيانة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" y="4663440"/>
            <a:ext cx="3246120" cy="11887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حماية البيانات + متابعة تحديثات</a:t>
            </a:r>
            <a:br/>
            <a:r>
              <a:t>API المستمرة من Meta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500" b="1">
                <a:solidFill>
                  <a:srgbClr val="FFD54F"/>
                </a:solidFill>
                <a:latin typeface="Segoe UI"/>
              </a:defRPr>
            </a:pPr>
            <a:r>
              <a:t>💡 الخلاصة: أنت بحاجة لشركة تقنية متخصصة تتولى إنشاء الحساب وبناء المنصة وإدارة التكامل بالكامل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خطوات التكامل مع 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8 خطوات مبسطة للبدء في استخدام WhatsApp Cloud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91495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91495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إنشاء حساب</a:t>
            </a:r>
            <a:br/>
            <a:r>
              <a:t>Meta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92463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92463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2463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8183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التحقق من</a:t>
            </a:r>
            <a:br/>
            <a:r>
              <a:t>النشاط التجاري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3863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3431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93431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👨‍💻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3431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9151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إنشاء تطبيق</a:t>
            </a:r>
            <a:br/>
            <a:r>
              <a:t>Meta 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4831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4399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94399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4399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0119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إعداد رقم</a:t>
            </a:r>
            <a:br/>
            <a:r>
              <a:t>واتساب بيزنس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5799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95367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95367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5367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1087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الحصول على</a:t>
            </a:r>
            <a:br/>
            <a:r>
              <a:t>Access 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6767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96335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96335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6335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42055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إعداد</a:t>
            </a:r>
            <a:br/>
            <a:r>
              <a:t>Webhook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7735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7303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97303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7303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3023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تكوين</a:t>
            </a:r>
            <a:br/>
            <a:r>
              <a:t>المنصة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8703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8271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8271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271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FFD54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991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اختبار</a:t>
            </a:r>
            <a:br/>
            <a:r>
              <a:t>التكامل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124712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🔴  الخطوات 1-4 إلزامية ولا يمكن تجاوز أي منها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🔑  </a:t>
            </a:r>
            <a:r>
              <a:rPr dirty="0" err="1"/>
              <a:t>الخطوة</a:t>
            </a:r>
            <a:r>
              <a:rPr dirty="0"/>
              <a:t> 5: </a:t>
            </a:r>
            <a:r>
              <a:rPr dirty="0" err="1"/>
              <a:t>يجب</a:t>
            </a:r>
            <a:r>
              <a:rPr dirty="0"/>
              <a:t> </a:t>
            </a:r>
            <a:r>
              <a:rPr dirty="0" err="1"/>
              <a:t>إنشاء</a:t>
            </a:r>
            <a:r>
              <a:rPr dirty="0"/>
              <a:t> Permanent Token </a:t>
            </a:r>
            <a:r>
              <a:rPr dirty="0" err="1"/>
              <a:t>للإنتاج</a:t>
            </a:r>
            <a:r>
              <a:rPr dirty="0"/>
              <a:t> (</a:t>
            </a:r>
            <a:r>
              <a:rPr dirty="0" err="1"/>
              <a:t>المؤقت</a:t>
            </a:r>
            <a:r>
              <a:rPr dirty="0"/>
              <a:t> </a:t>
            </a:r>
            <a:r>
              <a:rPr dirty="0" err="1"/>
              <a:t>صالح</a:t>
            </a:r>
            <a:r>
              <a:rPr dirty="0"/>
              <a:t> 24 </a:t>
            </a:r>
            <a:r>
              <a:rPr dirty="0" err="1"/>
              <a:t>ساعة</a:t>
            </a:r>
            <a:r>
              <a:rPr dirty="0"/>
              <a:t> </a:t>
            </a:r>
            <a:r>
              <a:rPr dirty="0" err="1"/>
              <a:t>فقط</a:t>
            </a:r>
            <a:r>
              <a:rPr dirty="0"/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937760"/>
            <a:ext cx="1124712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🌐  </a:t>
            </a:r>
            <a:r>
              <a:rPr dirty="0" err="1"/>
              <a:t>الخطوة</a:t>
            </a:r>
            <a:r>
              <a:rPr dirty="0"/>
              <a:t> 6: </a:t>
            </a:r>
            <a:r>
              <a:rPr dirty="0" err="1"/>
              <a:t>تحتاج</a:t>
            </a:r>
            <a:r>
              <a:rPr dirty="0"/>
              <a:t> </a:t>
            </a:r>
            <a:r>
              <a:rPr dirty="0" err="1"/>
              <a:t>سيرفر</a:t>
            </a:r>
            <a:r>
              <a:rPr dirty="0"/>
              <a:t> </a:t>
            </a:r>
            <a:r>
              <a:rPr dirty="0" err="1"/>
              <a:t>بعنوان</a:t>
            </a:r>
            <a:r>
              <a:rPr lang="en-US" dirty="0" err="1"/>
              <a:t>HTTPS</a:t>
            </a:r>
            <a:r>
              <a:rPr dirty="0"/>
              <a:t> </a:t>
            </a:r>
            <a:r>
              <a:rPr dirty="0" err="1"/>
              <a:t>ثابت</a:t>
            </a:r>
            <a:r>
              <a:rPr dirty="0"/>
              <a:t> </a:t>
            </a:r>
            <a:r>
              <a:rPr dirty="0" err="1"/>
              <a:t>يعمل</a:t>
            </a:r>
            <a:r>
              <a:rPr dirty="0"/>
              <a:t> 24/7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349240"/>
            <a:ext cx="1124712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🏢  </a:t>
            </a:r>
            <a:r>
              <a:rPr dirty="0" err="1"/>
              <a:t>جميع</a:t>
            </a:r>
            <a:r>
              <a:rPr dirty="0"/>
              <a:t> </a:t>
            </a:r>
            <a:r>
              <a:rPr dirty="0" err="1"/>
              <a:t>هذه</a:t>
            </a:r>
            <a:r>
              <a:rPr dirty="0"/>
              <a:t> </a:t>
            </a:r>
            <a:r>
              <a:rPr dirty="0" err="1"/>
              <a:t>الخطوات</a:t>
            </a:r>
            <a:r>
              <a:rPr dirty="0"/>
              <a:t> </a:t>
            </a:r>
            <a:r>
              <a:rPr dirty="0" err="1"/>
              <a:t>تتطلب</a:t>
            </a:r>
            <a:r>
              <a:rPr dirty="0"/>
              <a:t> </a:t>
            </a:r>
            <a:r>
              <a:rPr dirty="0" err="1"/>
              <a:t>شركة</a:t>
            </a:r>
            <a:r>
              <a:rPr dirty="0"/>
              <a:t> </a:t>
            </a:r>
            <a:r>
              <a:rPr dirty="0" err="1"/>
              <a:t>متخصصة</a:t>
            </a:r>
            <a:r>
              <a:rPr dirty="0"/>
              <a:t> </a:t>
            </a:r>
            <a:r>
              <a:rPr dirty="0" err="1"/>
              <a:t>للتنفيذ</a:t>
            </a:r>
            <a:r>
              <a:rPr dirty="0"/>
              <a:t> </a:t>
            </a:r>
            <a:r>
              <a:rPr dirty="0" err="1"/>
              <a:t>والإدارة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💰  نموذج التسعير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التسعير بالمحادثة (Conversation-Based) – وليس بعدد الرسائل أو حجمها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82735" y="1737360"/>
            <a:ext cx="2651760" cy="27432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82735" y="1874520"/>
            <a:ext cx="265176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2240280"/>
            <a:ext cx="2651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محادثات خدمة العملاء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82735" y="2651760"/>
            <a:ext cx="265176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مجاني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2735" y="3154680"/>
            <a:ext cx="265176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أول 1000/شهر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2735" y="3657600"/>
            <a:ext cx="265176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مثال: رد على استفسار العميل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2375" y="1737360"/>
            <a:ext cx="2651760" cy="27432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02375" y="1874520"/>
            <a:ext cx="265176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00A8FF"/>
                </a:solidFill>
                <a:latin typeface="Segoe UI"/>
              </a:defRPr>
            </a:pPr>
            <a: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2375" y="2240280"/>
            <a:ext cx="2651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رسائل المصادقة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2375" y="2651760"/>
            <a:ext cx="265176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~$0.005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2375" y="3154680"/>
            <a:ext cx="265176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لكل محادثة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2375" y="3657600"/>
            <a:ext cx="265176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مثال: OTP، رمز تحقق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2015" y="1737360"/>
            <a:ext cx="2651760" cy="27432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22015" y="1874520"/>
            <a:ext cx="265176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FF9800"/>
                </a:solidFill>
                <a:latin typeface="Segoe UI"/>
              </a:defRPr>
            </a:pPr>
            <a:r>
              <a:t>Utility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2015" y="2240280"/>
            <a:ext cx="2651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رسائل خدمية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2015" y="2651760"/>
            <a:ext cx="265176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~$0.008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2015" y="3154680"/>
            <a:ext cx="265176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لكل محادثة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2015" y="3657600"/>
            <a:ext cx="265176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مثال: تأكيد طلب، إشعار شحن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" y="1737360"/>
            <a:ext cx="2651760" cy="27432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5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1655" y="1874520"/>
            <a:ext cx="265176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FF5352"/>
                </a:solidFill>
                <a:latin typeface="Segoe UI"/>
              </a:defRPr>
            </a:pPr>
            <a:r>
              <a:t>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" y="2240280"/>
            <a:ext cx="2651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رسائل تسويقية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" y="2651760"/>
            <a:ext cx="265176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~$0.014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" y="3154680"/>
            <a:ext cx="265176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لكل محادثة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" y="3657600"/>
            <a:ext cx="265176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مثال: عروض، خصومات، إعلانات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54880"/>
            <a:ext cx="1124712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D54F"/>
                </a:solidFill>
                <a:latin typeface="Segoe UI"/>
              </a:defRPr>
            </a:pPr>
            <a:r>
              <a:t>✅  المحادثة = نافذة 24 ساعة – أرسل عدد غير محدود من الرسائل بنفس التكلفة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93792"/>
            <a:ext cx="1124712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D54F"/>
                </a:solidFill>
                <a:latin typeface="Segoe UI"/>
              </a:defRPr>
            </a:pPr>
            <a:r>
              <a:t>✅  الحجم لا يؤثر على السعر – نص صغير أو ملف 100MB = نفس تكلفة المحادثة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32704"/>
            <a:ext cx="1124712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D54F"/>
                </a:solidFill>
                <a:latin typeface="Segoe UI"/>
              </a:defRPr>
            </a:pPr>
            <a:r>
              <a:t>✅  1000 محادثة خدمية مجانية شهرياً لكل حساب – الأسعار تختلف حسب البلد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📈  حدود الرسائل – المستويات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الحدود تتعلق بعدد المحادثات الجديدة/يوم – وليس حجم الرسالة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2815" y="1828800"/>
            <a:ext cx="2011680" cy="25603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22815" y="1965960"/>
            <a:ext cx="201168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B0BEC5"/>
                </a:solidFill>
                <a:latin typeface="Segoe UI"/>
              </a:defRPr>
            </a:pPr>
            <a:r>
              <a:t>Unverified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815" y="2468880"/>
            <a:ext cx="201168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3017520"/>
            <a:ext cx="201168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محادثة / 24 ساعة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3474720"/>
            <a:ext cx="18288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حساب جديد</a:t>
            </a:r>
            <a:br/>
            <a:r>
              <a:t>غير مُحقق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39935" y="2743200"/>
            <a:ext cx="3200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200" b="0">
                <a:solidFill>
                  <a:srgbClr val="B0BEC5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82535" y="1828800"/>
            <a:ext cx="2011680" cy="25603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82535" y="1965960"/>
            <a:ext cx="201168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00A8FF"/>
                </a:solidFill>
                <a:latin typeface="Segoe UI"/>
              </a:defRPr>
            </a:pPr>
            <a:r>
              <a:t>Tier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2535" y="2468880"/>
            <a:ext cx="201168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2535" y="3017520"/>
            <a:ext cx="201168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محادثة / 24 ساعة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3975" y="3474720"/>
            <a:ext cx="18288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بعد التحقق من</a:t>
            </a:r>
            <a:br/>
            <a:r>
              <a:t>النشاط التجاري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9655" y="2743200"/>
            <a:ext cx="3200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200" b="0">
                <a:solidFill>
                  <a:srgbClr val="00A8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2255" y="1828800"/>
            <a:ext cx="2011680" cy="25603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2255" y="1965960"/>
            <a:ext cx="201168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9800"/>
                </a:solidFill>
                <a:latin typeface="Segoe UI"/>
              </a:defRPr>
            </a:pPr>
            <a:r>
              <a:t>Tier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2255" y="2468880"/>
            <a:ext cx="201168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2255" y="3017520"/>
            <a:ext cx="201168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محادثة / 24 ساعة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3695" y="3474720"/>
            <a:ext cx="18288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Segoe UI"/>
              </a:defRPr>
            </a:pPr>
            <a:r>
              <a:rPr dirty="0" err="1"/>
              <a:t>ترقية</a:t>
            </a:r>
            <a:r>
              <a:rPr dirty="0"/>
              <a:t> </a:t>
            </a:r>
            <a:r>
              <a:rPr dirty="0" err="1"/>
              <a:t>تلقائية</a:t>
            </a:r>
            <a:br>
              <a:rPr lang="en-US" dirty="0"/>
            </a:b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5059375" y="2743200"/>
            <a:ext cx="3200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200" b="0">
                <a:solidFill>
                  <a:srgbClr val="FF9800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01975" y="1828800"/>
            <a:ext cx="2011680" cy="25603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01975" y="1965960"/>
            <a:ext cx="201168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25D366"/>
                </a:solidFill>
                <a:latin typeface="Segoe UI"/>
              </a:defRPr>
            </a:pPr>
            <a:r>
              <a:t>Tier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1975" y="2468880"/>
            <a:ext cx="201168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1975" y="3017520"/>
            <a:ext cx="201168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محادثة / 24 ساعة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3415" y="3474720"/>
            <a:ext cx="18288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Segoe UI"/>
              </a:defRPr>
            </a:pPr>
            <a:r>
              <a:rPr lang="ar-EG" dirty="0"/>
              <a:t>ترقية تلقائية</a:t>
            </a:r>
            <a:br>
              <a:rPr lang="ar-EG" dirty="0"/>
            </a:br>
            <a:endParaRPr lang="ar-EG" dirty="0"/>
          </a:p>
        </p:txBody>
      </p:sp>
      <p:sp>
        <p:nvSpPr>
          <p:cNvPr id="28" name="TextBox 27"/>
          <p:cNvSpPr txBox="1"/>
          <p:nvPr/>
        </p:nvSpPr>
        <p:spPr>
          <a:xfrm>
            <a:off x="2819095" y="2743200"/>
            <a:ext cx="3200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2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1695" y="1828800"/>
            <a:ext cx="2011680" cy="25603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1695" y="1965960"/>
            <a:ext cx="201168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D54F"/>
                </a:solidFill>
                <a:latin typeface="Segoe UI"/>
              </a:defRPr>
            </a:pPr>
            <a:r>
              <a:t>Tier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" y="2468880"/>
            <a:ext cx="201168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غير محدود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" y="3017520"/>
            <a:ext cx="201168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محادثة / 24 ساعة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" y="3474720"/>
            <a:ext cx="18288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Segoe UI"/>
              </a:defRPr>
            </a:pPr>
            <a:r>
              <a:rPr lang="ar-EG" dirty="0"/>
              <a:t>ترقية تلقائية</a:t>
            </a:r>
            <a:br>
              <a:rPr lang="ar-EG" dirty="0"/>
            </a:br>
            <a:endParaRPr lang="ar-EG" dirty="0"/>
          </a:p>
        </p:txBody>
      </p:sp>
      <p:sp>
        <p:nvSpPr>
          <p:cNvPr id="34" name="Rounded Rectangle 33"/>
          <p:cNvSpPr/>
          <p:nvPr/>
        </p:nvSpPr>
        <p:spPr>
          <a:xfrm>
            <a:off x="640080" y="4754880"/>
            <a:ext cx="1078992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⚠️  تقييم الجودة (Quality Rating) يؤثر على مستواك: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303520"/>
            <a:ext cx="365760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>
              <a:defRPr sz="1400" b="1">
                <a:solidFill>
                  <a:srgbClr val="25D366"/>
                </a:solidFill>
                <a:latin typeface="Segoe UI"/>
              </a:defRPr>
            </a:pPr>
            <a:r>
              <a:rPr dirty="0"/>
              <a:t>🟢  High (</a:t>
            </a:r>
            <a:r>
              <a:rPr dirty="0" err="1"/>
              <a:t>أخضر</a:t>
            </a:r>
            <a:r>
              <a:rPr dirty="0"/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303520"/>
            <a:ext cx="594360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ممتاز – ترقية ممكنة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650992"/>
            <a:ext cx="365760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>
              <a:defRPr sz="1400" b="1">
                <a:solidFill>
                  <a:srgbClr val="FF9800"/>
                </a:solidFill>
                <a:latin typeface="Segoe UI"/>
              </a:defRPr>
            </a:pPr>
            <a:r>
              <a:rPr dirty="0"/>
              <a:t>🟡  Medium (</a:t>
            </a:r>
            <a:r>
              <a:rPr dirty="0" err="1"/>
              <a:t>أصفر</a:t>
            </a:r>
            <a:r>
              <a:rPr dirty="0"/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650992"/>
            <a:ext cx="594360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متوسط – لا ترقية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998464"/>
            <a:ext cx="365760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>
              <a:defRPr sz="1400" b="1">
                <a:solidFill>
                  <a:srgbClr val="FF5352"/>
                </a:solidFill>
                <a:latin typeface="Segoe UI"/>
              </a:defRPr>
            </a:pPr>
            <a:r>
              <a:rPr dirty="0"/>
              <a:t>🔴  Low (</a:t>
            </a:r>
            <a:r>
              <a:rPr dirty="0" err="1"/>
              <a:t>أحمر</a:t>
            </a:r>
            <a:r>
              <a:rPr dirty="0"/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998464"/>
            <a:ext cx="594360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dirty="0" err="1"/>
              <a:t>خطر</a:t>
            </a:r>
            <a:r>
              <a:rPr dirty="0"/>
              <a:t> – </a:t>
            </a:r>
            <a:r>
              <a:rPr dirty="0" err="1"/>
              <a:t>قد</a:t>
            </a:r>
            <a:r>
              <a:rPr dirty="0"/>
              <a:t> </a:t>
            </a:r>
            <a:r>
              <a:rPr dirty="0" err="1"/>
              <a:t>يتم</a:t>
            </a:r>
            <a:r>
              <a:rPr dirty="0"/>
              <a:t> </a:t>
            </a:r>
            <a:r>
              <a:rPr dirty="0" err="1"/>
              <a:t>تخفيض</a:t>
            </a:r>
            <a:r>
              <a:rPr dirty="0"/>
              <a:t> </a:t>
            </a:r>
            <a:r>
              <a:rPr dirty="0" err="1"/>
              <a:t>المستوى</a:t>
            </a:r>
            <a:r>
              <a:rPr dirty="0"/>
              <a:t> </a:t>
            </a:r>
            <a:r>
              <a:rPr dirty="0" err="1"/>
              <a:t>أو</a:t>
            </a:r>
            <a:r>
              <a:rPr dirty="0"/>
              <a:t> </a:t>
            </a:r>
            <a:r>
              <a:rPr dirty="0" err="1"/>
              <a:t>إيقاف</a:t>
            </a:r>
            <a:r>
              <a:rPr dirty="0"/>
              <a:t> </a:t>
            </a:r>
            <a:r>
              <a:rPr dirty="0" err="1"/>
              <a:t>الحساب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📎  أنواع الرسائل والمرفقات المدعومة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دعم كامل لجميع أنواع الوسائط – الحجم لا يؤثر على التكلفة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31375" y="173736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31375" y="182880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📝  نص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233172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4,096 حرف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5375" y="173736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45375" y="182880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🖼️  صورة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5375" y="233172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5 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9375" y="173736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59375" y="182880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🎬  فيديو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9375" y="233172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16 MB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3375" y="173736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3375" y="182880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🎵  صوت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3375" y="233172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16 MB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375" y="173736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" y="182880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📄  مستند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" y="233172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100 MB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31375" y="329184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31375" y="338328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😀  ملصق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1375" y="388620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500 KB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5375" y="329184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45375" y="338328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📍  موقع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5375" y="388620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GPS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59375" y="329184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59375" y="338328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👤  جهة اتصال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9375" y="388620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vCard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73375" y="329184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73375" y="338328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🔘  تفاعلي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3375" y="388620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أزرار + قوائم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7375" y="329184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7375" y="338328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📋  قالب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375" y="388620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معتمد من Meta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📌  الصيغ المدعومة: JPEG, PNG, MP4, MP3, OGG, PDF, DOC, XLSX, PPT وغيرها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FFD54F"/>
                </a:solidFill>
                <a:latin typeface="Segoe UI"/>
              </a:defRPr>
            </a:pPr>
            <a:r>
              <a:t>💡  يمكن الإرسال عبر رابط URL أو رفع مباشر – مع إمكانية إضافة تعليق (Caption) لكل مرفق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🖥️  لماذا المنصة المتخصصة إلزامية؟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الرقم المرتبط بـ Cloud API لا يعمل على تطبيق الهاتف – يحتاج منصة إدارة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5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FF5352"/>
                </a:solidFill>
                <a:latin typeface="Segoe UI"/>
              </a:defRPr>
            </a:pPr>
            <a:r>
              <a:t>❌  بدون منصة متخصصة: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❌ لا إدارة  ←  ❌ لا استقبال  ←  ❌ لا إرسال  ←  ❌ لا يعمل على التطبيق  ←  🔗 مرتبط بـ Cloud API  ←  📱 الرقم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51560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✅  مع منصة متخصصة: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✅ تقارير  ←  ✅ أتمتة  ←  ✅ حملات  ←  ✅ صندوق وارد  ←  🖥️ منصة إدارة  ←  🔗 Cloud API  ←  📱 الرقم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02920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25D366"/>
                </a:solidFill>
                <a:latin typeface="Segoe UI"/>
              </a:defRPr>
            </a:pPr>
            <a:r>
              <a:t>✅  صندوق وارد كامل ومنظم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FF5352"/>
                </a:solidFill>
                <a:latin typeface="Segoe UI"/>
              </a:defRPr>
            </a:pPr>
            <a:r>
              <a:t>❌  لا يمكن رؤية الرسائل الواردة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30352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25D366"/>
                </a:solidFill>
                <a:latin typeface="Segoe UI"/>
              </a:defRPr>
            </a:pPr>
            <a:r>
              <a:t>✅  رد فوري مع مرفقات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FF5352"/>
                </a:solidFill>
                <a:latin typeface="Segoe UI"/>
              </a:defRPr>
            </a:pPr>
            <a:r>
              <a:t>❌  لا يمكن الرد على العملاء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57784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25D366"/>
                </a:solidFill>
                <a:latin typeface="Segoe UI"/>
              </a:defRPr>
            </a:pPr>
            <a:r>
              <a:t>✅  حملات جماعية بضغطة زر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FF5352"/>
                </a:solidFill>
                <a:latin typeface="Segoe UI"/>
              </a:defRPr>
            </a:pPr>
            <a:r>
              <a:t>❌  إرسال فردي يدوي عبر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85216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25D366"/>
                </a:solidFill>
                <a:latin typeface="Segoe UI"/>
              </a:defRPr>
            </a:pPr>
            <a:r>
              <a:t>✅  أتمتة ذكية + فورم تفاعلي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5216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FF5352"/>
                </a:solidFill>
                <a:latin typeface="Segoe UI"/>
              </a:defRPr>
            </a:pPr>
            <a:r>
              <a:t>❌  لا أتمتة أو ردود تلقائية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612648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25D366"/>
                </a:solidFill>
                <a:latin typeface="Segoe UI"/>
              </a:defRPr>
            </a:pPr>
            <a:r>
              <a:t>✅  تحليلات مفصلة + تقييم الجودة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FF5352"/>
                </a:solidFill>
                <a:latin typeface="Segoe UI"/>
              </a:defRPr>
            </a:pPr>
            <a:r>
              <a:t>❌  لا تقارير أو تحليلات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640080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25D366"/>
                </a:solidFill>
                <a:latin typeface="Segoe UI"/>
              </a:defRPr>
            </a:pPr>
            <a:r>
              <a:t>✅  فريق عمل متعدد بصلاحيات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FF5352"/>
                </a:solidFill>
                <a:latin typeface="Segoe UI"/>
              </a:defRPr>
            </a:pPr>
            <a:r>
              <a:t>❌  موظف واحد فقط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🤖  الأتمتة الذكية والتفاعل مع العملاء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سيناريوهات تفاعلية + فورم تعريفي + ربط بقواعد البيانات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30975" y="1645920"/>
            <a:ext cx="5303520" cy="41148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68135" y="1783080"/>
            <a:ext cx="502920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🔘  الخيارات التفاعلية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2331720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أزرار الرد السريع (Quick Reply) – حتى 3 أزرار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3855" y="2642616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قوائم الاختيار (List Messages) – حتى 10 خيارات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3855" y="2953512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أزرار الروابط (URL Buttons) – توجيه لموقع محدد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3855" y="3264408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أزرار الاتصال (Call Buttons) – اتصال مباشر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3855" y="3575304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سيناريوهات متعددة المراحل (Multi-step Flows)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3855" y="3886200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توجيه ذكي للعملاء حسب اختياراتهم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3855" y="4197096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تحويل للموظف المختص عند الحاجة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45920"/>
            <a:ext cx="5577840" cy="2002536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783080"/>
            <a:ext cx="53035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00A8FF"/>
                </a:solidFill>
                <a:latin typeface="Segoe UI"/>
              </a:defRPr>
            </a:pPr>
            <a:r>
              <a:t>📝  فورم تعريفي تفاعلي (WhatsApp Flows)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31720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جمع بيانات التسجيل (الاسم، البريد، الهاتف، العنوان)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استبيانات رضا العملاء + نماذج الطلبات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71800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نماذج حجز المواعيد + تقييم الخدمة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91840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البيانات</a:t>
            </a:r>
            <a:r>
              <a:rPr dirty="0"/>
              <a:t> </a:t>
            </a:r>
            <a:r>
              <a:rPr dirty="0" err="1"/>
              <a:t>تُحفظ</a:t>
            </a:r>
            <a:r>
              <a:rPr dirty="0"/>
              <a:t> </a:t>
            </a:r>
            <a:r>
              <a:rPr dirty="0" err="1"/>
              <a:t>تلقائياً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قاعدة</a:t>
            </a:r>
            <a:r>
              <a:rPr dirty="0"/>
              <a:t> </a:t>
            </a:r>
            <a:r>
              <a:rPr dirty="0" err="1"/>
              <a:t>بيانات</a:t>
            </a:r>
            <a:r>
              <a:rPr dirty="0"/>
              <a:t> </a:t>
            </a:r>
            <a:r>
              <a:rPr dirty="0" err="1"/>
              <a:t>العميل</a:t>
            </a:r>
            <a:r>
              <a:rPr dirty="0"/>
              <a:t> (CRM)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8"/>
            <a:ext cx="5577840" cy="2157985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886200"/>
            <a:ext cx="53035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FF9800"/>
                </a:solidFill>
                <a:latin typeface="Segoe UI"/>
              </a:defRPr>
            </a:pPr>
            <a:r>
              <a:t>🗄️  الربط بقواعد البيانات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34840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بيانات</a:t>
            </a:r>
            <a:r>
              <a:rPr dirty="0"/>
              <a:t> </a:t>
            </a:r>
            <a:r>
              <a:rPr dirty="0" err="1"/>
              <a:t>الفورم</a:t>
            </a:r>
            <a:r>
              <a:rPr dirty="0"/>
              <a:t> </a:t>
            </a:r>
            <a:r>
              <a:rPr dirty="0" err="1"/>
              <a:t>تُخزّن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سجل</a:t>
            </a:r>
            <a:r>
              <a:rPr dirty="0"/>
              <a:t> </a:t>
            </a:r>
            <a:r>
              <a:rPr dirty="0" err="1"/>
              <a:t>العميل</a:t>
            </a:r>
            <a:r>
              <a:rPr dirty="0"/>
              <a:t> </a:t>
            </a:r>
            <a:r>
              <a:rPr dirty="0" err="1"/>
              <a:t>تلقائياً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594360" y="4736592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تصنيف تلقائي للعملاء بناءً على اختياراتهم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38344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سجل كامل لكل محادثة وتفاعل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0096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تنبيهات للموظفين عند الحاجة لتدخل بشري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641848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تقارير وتحليلات عن أنماط تفاعل العملاء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D54F"/>
                </a:solidFill>
                <a:latin typeface="Segoe UI"/>
              </a:defRPr>
            </a:pPr>
            <a:r>
              <a:t>💡  مثال: العميل يتواصل ← يختار من القائمة ← يملأ الفورم ← البيانات تتخزن تلقائياً ← يتم توجيهه للموظف المختص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✅  مميزات المنصة المتكاملة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كل ما تحتاجه لإدارة واتساب بيزنس في مكان واحد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28455" y="164592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19895" y="173736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📨  صندوق الوارد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21945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عرض جميع المحادثات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15" y="246888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الرد مع مرفقات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274320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تعيين لموظفين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9535" y="173736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👥  إدارة العملاء CRM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5255" y="21945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قاعدة بيانات شاملة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5255" y="246888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تصنيف وتقسيم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5255" y="274320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استيراد وتصدير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7735" y="164592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9175" y="173736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📢  الحملات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4895" y="21945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رسائل جماعية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4895" y="246888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جدولة الإرسال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895" y="274320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تتبع النتائج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7375" y="164592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8815" y="173736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🤖  الأتمتة الذكية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" y="21945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ردود تلقائية + Chatbots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" y="246888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فورم تعريفي تفاعلي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" y="274320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ربط بقواعد البيانات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28455" y="384048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19895" y="393192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📊  التقارير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5615" y="438912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معدلات التسليم والقراءة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5615" y="466344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أداء الحملات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5615" y="49377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تقييم الجودة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8095" y="384048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39535" y="393192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📋  القوالب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5255" y="438912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إنشاء وإدارة القوالب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5255" y="466344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متابعة الاعتماد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5255" y="49377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اختبار قبل الإرسال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67735" y="384048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59175" y="393192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👥  المستخدمين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4895" y="438912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صلاحيات وأدوار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4895" y="466344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فريق عمل متعدد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4895" y="49377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سجل العمليات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375" y="384048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8815" y="393192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🔔  الإشعارات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" y="438912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إشعارات فورية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" y="466344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تنبيهات ذكية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" y="49377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متابعة الأحداث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600" b="1">
                <a:solidFill>
                  <a:srgbClr val="25D366"/>
                </a:solidFill>
                <a:latin typeface="Segoe UI"/>
              </a:defRPr>
            </a:pPr>
            <a:r>
              <a:t>📋  الخلاصة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0" y="1920240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واتساب Cloud API هو الطريقة الرسمية والأمثل للتواصل المؤسسي مع العملاء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50592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2542032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التسعير بالمحادثة (24 ساعة) – وليس بعدد أو حجم الرسائل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72384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0" y="3163824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63824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حدود الرسائل تعتمد على المستوى وتترقى تلقائياً – غير مرتبطة بالحجم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94176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3785616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85616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المتطلبات إلزامية: حساب Meta Business + تحقق + رقم مخصص + منصة إدارة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15968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0" y="4407408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07408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الرقم المرتبط بـ API لا يعمل على الهاتف – يحتاج منصة متخصصة إلزامياً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0" y="5029200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تحتاج شركة تقنية متخصصة لإنشاء الحساب وبناء المنصة وإدارة التكامل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59552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0" y="5650992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50992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المنصة توفر: أتمتة ذكية + فورم تعريفي + ربط بقواعد البيانات + خيارات تفاعلية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5943600"/>
            <a:ext cx="7589520" cy="640080"/>
          </a:xfrm>
          <a:prstGeom prst="roundRect">
            <a:avLst/>
          </a:prstGeom>
          <a:solidFill>
            <a:srgbClr val="075E54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86000" y="5989320"/>
            <a:ext cx="758952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🚀  نحن جاهزون لمساعدتكم في إنشاء وإدارة حساب واتساب بيزنس الخاص بكم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1440</Words>
  <Application>Microsoft Office PowerPoint</Application>
  <PresentationFormat>Widescreen</PresentationFormat>
  <Paragraphs>287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Ashraf Farag allah abdelbake</cp:lastModifiedBy>
  <cp:revision>2</cp:revision>
  <dcterms:created xsi:type="dcterms:W3CDTF">2013-01-27T09:14:16Z</dcterms:created>
  <dcterms:modified xsi:type="dcterms:W3CDTF">2026-03-09T05:03:42Z</dcterms:modified>
  <cp:category/>
</cp:coreProperties>
</file>