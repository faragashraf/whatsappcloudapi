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2" d="100"/>
          <a:sy n="112" d="100"/>
        </p:scale>
        <p:origin x="516" y="3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09/03/2026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09/03/2026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09/03/2026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09/03/2026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09/03/2026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09/03/2026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09/03/2026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09/03/2026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09/03/2026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09/03/2026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09/03/2026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09/03/2026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47120" cy="109728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📱  واتساب بيزنس – التكامل مع Meta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47120" cy="7315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2400" b="0">
                <a:solidFill>
                  <a:srgbClr val="25D366"/>
                </a:solidFill>
                <a:latin typeface="Segoe UI"/>
              </a:defRPr>
            </a:pPr>
            <a:r>
              <a:t>دليل شامل للمميزات، التسعير، والخطوات اللازمة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11247120" cy="5486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2000" b="0">
                <a:solidFill>
                  <a:srgbClr val="B0BEC5"/>
                </a:solidFill>
                <a:latin typeface="Segoe UI"/>
              </a:defRPr>
            </a:pPr>
            <a:r>
              <a:t>WhatsApp Cloud API  ·  Meta Business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54864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1">
              <a:defRPr sz="1100" b="0">
                <a:solidFill>
                  <a:srgbClr val="B0BEC5"/>
                </a:solidFill>
                <a:latin typeface="Segoe UI"/>
              </a:defRPr>
            </a:pPr>
            <a: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3200" b="1">
                <a:solidFill>
                  <a:srgbClr val="25D366"/>
                </a:solidFill>
                <a:latin typeface="Segoe UI"/>
              </a:defRPr>
            </a:pPr>
            <a:r>
              <a:t>ما هو واتساب بيزنس؟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800" b="0">
                <a:solidFill>
                  <a:srgbClr val="B0BEC5"/>
                </a:solidFill>
                <a:latin typeface="Segoe UI"/>
              </a:defRPr>
            </a:pPr>
            <a:r>
              <a:t>حل من Meta يتيح للشركات التواصل مع عملائها باحترافية عبر واتساب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59775" y="1828800"/>
            <a:ext cx="3474720" cy="320040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128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96935" y="1938528"/>
            <a:ext cx="32004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800" b="1">
                <a:solidFill>
                  <a:srgbClr val="B0BEC5"/>
                </a:solidFill>
                <a:latin typeface="Segoe UI"/>
              </a:defRPr>
            </a:pPr>
            <a:r>
              <a:rPr dirty="0"/>
              <a:t>📱  </a:t>
            </a:r>
            <a:r>
              <a:rPr sz="1400" dirty="0"/>
              <a:t>WhatsApp</a:t>
            </a:r>
            <a:r>
              <a:rPr dirty="0"/>
              <a:t> Business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42655" y="2423160"/>
            <a:ext cx="310896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•  تطبيق مجاني للهاتف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42655" y="2715768"/>
            <a:ext cx="310896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rPr dirty="0"/>
              <a:t>•  </a:t>
            </a:r>
            <a:r>
              <a:rPr dirty="0" err="1"/>
              <a:t>مناسب</a:t>
            </a:r>
            <a:r>
              <a:rPr dirty="0"/>
              <a:t> </a:t>
            </a:r>
            <a:r>
              <a:rPr dirty="0" err="1"/>
              <a:t>للأعمال</a:t>
            </a:r>
            <a:r>
              <a:rPr dirty="0"/>
              <a:t> </a:t>
            </a:r>
            <a:r>
              <a:rPr dirty="0" err="1"/>
              <a:t>الصغيرة</a:t>
            </a:r>
            <a:r>
              <a:rPr dirty="0"/>
              <a:t> (1-5 </a:t>
            </a:r>
            <a:r>
              <a:rPr dirty="0" err="1"/>
              <a:t>موظفين</a:t>
            </a:r>
            <a:r>
              <a:rPr dirty="0"/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42655" y="3008376"/>
            <a:ext cx="310896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•  رسائل ترحيب بسيطة فقط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42655" y="3300984"/>
            <a:ext cx="310896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•  بدون أتمتة أو تكامل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42655" y="3593592"/>
            <a:ext cx="310896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•  جهاز واحد إلى 4 أجهزة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65015" y="1828800"/>
            <a:ext cx="3474720" cy="320040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128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02175" y="1938528"/>
            <a:ext cx="3200400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800" b="1">
                <a:solidFill>
                  <a:srgbClr val="FF9800"/>
                </a:solidFill>
                <a:latin typeface="Segoe UI"/>
              </a:defRPr>
            </a:pPr>
            <a:r>
              <a:rPr sz="1400" dirty="0"/>
              <a:t>🏢  WhatsApp Business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7895" y="2423160"/>
            <a:ext cx="310896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•  واجهة برمجة تطبيقات (API)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7895" y="2715768"/>
            <a:ext cx="310896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•  للشركات المتوسطة والكبيرة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7895" y="3008376"/>
            <a:ext cx="310896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•  أتمتة كاملة + Chatbots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7895" y="3300984"/>
            <a:ext cx="310896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•  تكامل مع CRM, ERP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7895" y="3593592"/>
            <a:ext cx="310896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•  يحتاج استضافة خاصة (On-Premise)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0255" y="1828800"/>
            <a:ext cx="3474720" cy="320040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128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7415" y="1938528"/>
            <a:ext cx="3200400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800" b="1">
                <a:solidFill>
                  <a:srgbClr val="25D366"/>
                </a:solidFill>
                <a:latin typeface="Segoe UI"/>
              </a:defRPr>
            </a:pPr>
            <a:r>
              <a:rPr sz="1400" dirty="0"/>
              <a:t>☁️  WhatsApp Cloud API  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135" y="2423160"/>
            <a:ext cx="310896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•  API مستضاف على سيرفرات Meta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3135" y="2715768"/>
            <a:ext cx="310896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•  إعداد سريع بدون سيرفر خاص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3135" y="3008376"/>
            <a:ext cx="310896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•  تحديثات تلقائية من Meta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3135" y="3300984"/>
            <a:ext cx="310896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•  تكلفة أقل + موثوقية عالية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3135" y="3593592"/>
            <a:ext cx="310896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•  الخيار الأفضل للشركات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303520"/>
            <a:ext cx="1124712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600" b="1">
                <a:solidFill>
                  <a:srgbClr val="FFD54F"/>
                </a:solidFill>
                <a:latin typeface="Segoe UI"/>
              </a:defRPr>
            </a:pPr>
            <a:r>
              <a:t>☁️  Cloud API هو الخيار الأمثل – مستضاف على Meta، تكلفة أقل، وإعداد أسرع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1">
              <a:defRPr sz="1100" b="0">
                <a:solidFill>
                  <a:srgbClr val="B0BEC5"/>
                </a:solidFill>
                <a:latin typeface="Segoe UI"/>
              </a:defRPr>
            </a:pPr>
            <a: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3200" b="1">
                <a:solidFill>
                  <a:srgbClr val="25D366"/>
                </a:solidFill>
                <a:latin typeface="Segoe UI"/>
              </a:defRPr>
            </a:pPr>
            <a:r>
              <a:t>⛔  المتطلبات الإلزامية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800" b="0">
                <a:solidFill>
                  <a:srgbClr val="B0BEC5"/>
                </a:solidFill>
                <a:latin typeface="Segoe UI"/>
              </a:defRPr>
            </a:pPr>
            <a:r>
              <a:t>جميع المتطلبات التالية إلزامية – بدونها لن تتمكن من استخدام WhatsApp Cloud 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11155680" cy="594360"/>
          </a:xfrm>
          <a:prstGeom prst="roundRect">
            <a:avLst/>
          </a:prstGeom>
          <a:solidFill>
            <a:srgbClr val="1A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0" y="1847088"/>
            <a:ext cx="91440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847088"/>
            <a:ext cx="320040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حساب Meta Business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847088"/>
            <a:ext cx="192024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400" b="1">
                <a:solidFill>
                  <a:srgbClr val="FF5352"/>
                </a:solidFill>
                <a:latin typeface="Segoe UI"/>
              </a:defRPr>
            </a:pPr>
            <a:r>
              <a:t>إلزامي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47088"/>
            <a:ext cx="438912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يجب إنشاؤه وتفعيله قبل أي خطوة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95728"/>
            <a:ext cx="11155680" cy="594360"/>
          </a:xfrm>
          <a:prstGeom prst="roundRect">
            <a:avLst/>
          </a:prstGeom>
          <a:solidFill>
            <a:srgbClr val="15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0" y="2505456"/>
            <a:ext cx="91440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505456"/>
            <a:ext cx="320040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التحقق من النشاط التجاري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505456"/>
            <a:ext cx="192024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400" b="1">
                <a:solidFill>
                  <a:srgbClr val="FF5352"/>
                </a:solidFill>
                <a:latin typeface="Segoe UI"/>
              </a:defRPr>
            </a:pPr>
            <a:r>
              <a:t>إلزامي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505456"/>
            <a:ext cx="438912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بدونه محدود بـ 250 محادثة فقط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054096"/>
            <a:ext cx="11155680" cy="594360"/>
          </a:xfrm>
          <a:prstGeom prst="roundRect">
            <a:avLst/>
          </a:prstGeom>
          <a:solidFill>
            <a:srgbClr val="1A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0" y="3163824"/>
            <a:ext cx="91440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3163824"/>
            <a:ext cx="320040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تطبيق Meta Developer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163824"/>
            <a:ext cx="192024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400" b="1">
                <a:solidFill>
                  <a:srgbClr val="FF5352"/>
                </a:solidFill>
                <a:latin typeface="Segoe UI"/>
              </a:defRPr>
            </a:pPr>
            <a:r>
              <a:t>إلزامي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163824"/>
            <a:ext cx="438912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البوابة الوحيدة للوصول لـ API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712464"/>
            <a:ext cx="11155680" cy="594360"/>
          </a:xfrm>
          <a:prstGeom prst="roundRect">
            <a:avLst/>
          </a:prstGeom>
          <a:solidFill>
            <a:srgbClr val="15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15600" y="3822192"/>
            <a:ext cx="91440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3822192"/>
            <a:ext cx="320040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رقم هاتف مخصص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3822192"/>
            <a:ext cx="192024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400" b="1">
                <a:solidFill>
                  <a:srgbClr val="FF5352"/>
                </a:solidFill>
                <a:latin typeface="Segoe UI"/>
              </a:defRPr>
            </a:pPr>
            <a:r>
              <a:t>إلزامي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822192"/>
            <a:ext cx="438912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سيُفصل نهائياً من التطبيق العادي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370832"/>
            <a:ext cx="11155680" cy="594360"/>
          </a:xfrm>
          <a:prstGeom prst="roundRect">
            <a:avLst/>
          </a:prstGeom>
          <a:solidFill>
            <a:srgbClr val="1A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515600" y="4480560"/>
            <a:ext cx="91440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4480560"/>
            <a:ext cx="320040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نطاق إنترنت (Domain)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4480560"/>
            <a:ext cx="192024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400" b="1">
                <a:solidFill>
                  <a:srgbClr val="FF9800"/>
                </a:solidFill>
                <a:latin typeface="Segoe UI"/>
              </a:defRPr>
            </a:pPr>
            <a:r>
              <a:t>مطلوب بشدة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480560"/>
            <a:ext cx="438912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ضروري للتحقق من النشاط التجاري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029200"/>
            <a:ext cx="11155680" cy="594360"/>
          </a:xfrm>
          <a:prstGeom prst="roundRect">
            <a:avLst/>
          </a:prstGeom>
          <a:solidFill>
            <a:srgbClr val="15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515600" y="5138928"/>
            <a:ext cx="91440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5138928"/>
            <a:ext cx="320040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شركة متخصصة لإدارة الحساب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5138928"/>
            <a:ext cx="192024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400" b="1">
                <a:solidFill>
                  <a:srgbClr val="FF5352"/>
                </a:solidFill>
                <a:latin typeface="Segoe UI"/>
              </a:defRPr>
            </a:pPr>
            <a:r>
              <a:t>إلزامي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138928"/>
            <a:ext cx="438912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Meta توفر API فقط – بدون واجهة إدارة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943600"/>
            <a:ext cx="1115568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600" b="1">
                <a:solidFill>
                  <a:srgbClr val="FF5352"/>
                </a:solidFill>
                <a:latin typeface="Segoe UI"/>
              </a:defRPr>
            </a:pPr>
            <a:r>
              <a:t>⚠️  بدون شركة متخصصة = لا واجهة، لا إرسال، لا استقبال، لا إدارة للرسائل!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1">
              <a:defRPr sz="1100" b="0">
                <a:solidFill>
                  <a:srgbClr val="B0BEC5"/>
                </a:solidFill>
                <a:latin typeface="Segoe UI"/>
              </a:defRPr>
            </a:pPr>
            <a: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3200" b="1">
                <a:solidFill>
                  <a:srgbClr val="25D366"/>
                </a:solidFill>
                <a:latin typeface="Segoe UI"/>
              </a:defRPr>
            </a:pPr>
            <a:r>
              <a:t>🏢  لماذا تحتاج شركة متخصصة؟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800" b="0">
                <a:solidFill>
                  <a:srgbClr val="B0BEC5"/>
                </a:solidFill>
                <a:latin typeface="Segoe UI"/>
              </a:defRPr>
            </a:pPr>
            <a:r>
              <a:rPr lang="en-US" dirty="0"/>
              <a:t>Meta </a:t>
            </a:r>
            <a:r>
              <a:rPr lang="ar-EG" dirty="0"/>
              <a:t> </a:t>
            </a:r>
            <a:r>
              <a:rPr lang="ar-EG" dirty="0">
                <a:solidFill>
                  <a:srgbClr val="00B050"/>
                </a:solidFill>
              </a:rPr>
              <a:t>توفر</a:t>
            </a:r>
            <a:r>
              <a:rPr lang="ar-EG" dirty="0"/>
              <a:t> فقط الـ </a:t>
            </a:r>
            <a:r>
              <a:rPr lang="en-US" dirty="0"/>
              <a:t>API </a:t>
            </a:r>
            <a:r>
              <a:rPr lang="ar-EG" dirty="0"/>
              <a:t> (واجهة برمجية خام) – </a:t>
            </a:r>
            <a:r>
              <a:rPr lang="ar-EG" dirty="0">
                <a:solidFill>
                  <a:srgbClr val="FF0000"/>
                </a:solidFill>
              </a:rPr>
              <a:t>لا توفر</a:t>
            </a:r>
            <a:r>
              <a:rPr lang="ar-EG" dirty="0"/>
              <a:t> أي واجهة أو تطبيق لإدارة الرسائل!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14055" y="1737360"/>
            <a:ext cx="3520440" cy="201168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128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51215" y="1874520"/>
            <a:ext cx="324612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700" b="1">
                <a:solidFill>
                  <a:srgbClr val="25D366"/>
                </a:solidFill>
                <a:latin typeface="Segoe UI"/>
              </a:defRPr>
            </a:pPr>
            <a:r>
              <a:t>⚙️  إنشاء وتكوين الحساب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51215" y="2377440"/>
            <a:ext cx="3246120" cy="11887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400" b="0">
                <a:solidFill>
                  <a:srgbClr val="B0BEC5"/>
                </a:solidFill>
                <a:latin typeface="Segoe UI"/>
              </a:defRPr>
            </a:pPr>
            <a:r>
              <a:t>إعداد تقني معقد يتضمن</a:t>
            </a:r>
            <a:br/>
            <a:r>
              <a:t>Meta Business + Developer App + Webhooks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3575" y="1737360"/>
            <a:ext cx="3520440" cy="201168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128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10735" y="1874520"/>
            <a:ext cx="324612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700" b="1">
                <a:solidFill>
                  <a:srgbClr val="25D366"/>
                </a:solidFill>
                <a:latin typeface="Segoe UI"/>
              </a:defRPr>
            </a:pPr>
            <a:r>
              <a:t>🖥️  بناء منصة الإدارة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10735" y="2377440"/>
            <a:ext cx="3246120" cy="11887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400" b="0">
                <a:solidFill>
                  <a:srgbClr val="B0BEC5"/>
                </a:solidFill>
                <a:latin typeface="Segoe UI"/>
              </a:defRPr>
            </a:pPr>
            <a:r>
              <a:t>واجهة كاملة لعرض وإرسال</a:t>
            </a:r>
            <a:br/>
            <a:r>
              <a:t>واستقبال وإدارة الرسائل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3095" y="1737360"/>
            <a:ext cx="3520440" cy="201168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128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0255" y="1874520"/>
            <a:ext cx="324612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700" b="1">
                <a:solidFill>
                  <a:srgbClr val="25D366"/>
                </a:solidFill>
                <a:latin typeface="Segoe UI"/>
              </a:defRPr>
            </a:pPr>
            <a:r>
              <a:t>🌐  ربط الـ Webhook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255" y="2377440"/>
            <a:ext cx="3246120" cy="11887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400" b="0">
                <a:solidFill>
                  <a:srgbClr val="B0BEC5"/>
                </a:solidFill>
                <a:latin typeface="Segoe UI"/>
              </a:defRPr>
            </a:pPr>
            <a:r>
              <a:t>سيرفر HTTPS ثابت يعمل 24/7</a:t>
            </a:r>
            <a:br/>
            <a:r>
              <a:t>لاستقبال الرسائل فورياً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14055" y="4023360"/>
            <a:ext cx="3520440" cy="201168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128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51215" y="4160520"/>
            <a:ext cx="324612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700" b="1">
                <a:solidFill>
                  <a:srgbClr val="25D366"/>
                </a:solidFill>
                <a:latin typeface="Segoe UI"/>
              </a:defRPr>
            </a:pPr>
            <a:r>
              <a:t>📋  إدارة القوالب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1215" y="4663440"/>
            <a:ext cx="3246120" cy="11887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400" b="0">
                <a:solidFill>
                  <a:srgbClr val="B0BEC5"/>
                </a:solidFill>
                <a:latin typeface="Segoe UI"/>
              </a:defRPr>
            </a:pPr>
            <a:r>
              <a:t>إنشاء ومراجعة واعتماد قوالب الرسائل</a:t>
            </a:r>
            <a:br/>
            <a:r>
              <a:t>بخبرة بسياسات Meta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3575" y="4023360"/>
            <a:ext cx="3520440" cy="201168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128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10735" y="4160520"/>
            <a:ext cx="324612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700" b="1">
                <a:solidFill>
                  <a:srgbClr val="25D366"/>
                </a:solidFill>
                <a:latin typeface="Segoe UI"/>
              </a:defRPr>
            </a:pPr>
            <a:r>
              <a:t>🤖  الأتمتة و Chatbots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10735" y="4663440"/>
            <a:ext cx="3246120" cy="11887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400" b="0">
                <a:solidFill>
                  <a:srgbClr val="B0BEC5"/>
                </a:solidFill>
                <a:latin typeface="Segoe UI"/>
              </a:defRPr>
            </a:pPr>
            <a:r>
              <a:t>بناء سيناريوهات تفاعلية وربطها</a:t>
            </a:r>
            <a:br/>
            <a:r>
              <a:t>بقواعد البيانات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3095" y="4023360"/>
            <a:ext cx="3520440" cy="201168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128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0255" y="4160520"/>
            <a:ext cx="324612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700" b="1">
                <a:solidFill>
                  <a:srgbClr val="25D366"/>
                </a:solidFill>
                <a:latin typeface="Segoe UI"/>
              </a:defRPr>
            </a:pPr>
            <a:r>
              <a:t>🔒  الأمان والصيانة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0255" y="4663440"/>
            <a:ext cx="3246120" cy="11887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400" b="0">
                <a:solidFill>
                  <a:srgbClr val="B0BEC5"/>
                </a:solidFill>
                <a:latin typeface="Segoe UI"/>
              </a:defRPr>
            </a:pPr>
            <a:r>
              <a:t>حماية البيانات + متابعة تحديثات</a:t>
            </a:r>
            <a:br/>
            <a:r>
              <a:t>API المستمرة من Meta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500" b="1">
                <a:solidFill>
                  <a:srgbClr val="FFD54F"/>
                </a:solidFill>
                <a:latin typeface="Segoe UI"/>
              </a:defRPr>
            </a:pPr>
            <a:r>
              <a:t>💡 الخلاصة: أنت بحاجة لشركة تقنية متخصصة تتولى إنشاء الحساب وبناء المنصة وإدارة التكامل بالكامل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1">
              <a:defRPr sz="1100" b="0">
                <a:solidFill>
                  <a:srgbClr val="B0BEC5"/>
                </a:solidFill>
                <a:latin typeface="Segoe UI"/>
              </a:defRPr>
            </a:pPr>
            <a: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3200" b="1">
                <a:solidFill>
                  <a:srgbClr val="25D366"/>
                </a:solidFill>
                <a:latin typeface="Segoe UI"/>
              </a:defRPr>
            </a:pPr>
            <a:r>
              <a:t>خطوات التكامل مع Meta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800" b="0">
                <a:solidFill>
                  <a:srgbClr val="B0BEC5"/>
                </a:solidFill>
                <a:latin typeface="Segoe UI"/>
              </a:defRPr>
            </a:pPr>
            <a:r>
              <a:t>8 خطوات مبسطة للبدء في استخدام WhatsApp Cloud 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91495" y="2011680"/>
            <a:ext cx="1234440" cy="164592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25D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91495" y="2103120"/>
            <a:ext cx="123444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2800" b="0">
                <a:solidFill>
                  <a:srgbClr val="FFFFFF"/>
                </a:solidFill>
                <a:latin typeface="Segoe UI"/>
              </a:defRPr>
            </a:pPr>
            <a:r>
              <a:t>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2514600"/>
            <a:ext cx="123444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2000" b="1">
                <a:solidFill>
                  <a:srgbClr val="25D366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7215" y="2880360"/>
            <a:ext cx="1143000" cy="7315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200" b="0">
                <a:solidFill>
                  <a:srgbClr val="B0BEC5"/>
                </a:solidFill>
                <a:latin typeface="Segoe UI"/>
              </a:defRPr>
            </a:pPr>
            <a:r>
              <a:t>إنشاء حساب</a:t>
            </a:r>
            <a:br/>
            <a:r>
              <a:t>Meta Business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2651760"/>
            <a:ext cx="27432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800" b="0">
                <a:solidFill>
                  <a:srgbClr val="25D366"/>
                </a:solidFill>
                <a:latin typeface="Segoe UI"/>
              </a:defRPr>
            </a:pPr>
            <a:r>
              <a:t>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92463" y="2011680"/>
            <a:ext cx="1234440" cy="164592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25D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92463" y="2103120"/>
            <a:ext cx="123444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2800" b="0">
                <a:solidFill>
                  <a:srgbClr val="FFFFFF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92463" y="2514600"/>
            <a:ext cx="123444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2000" b="1">
                <a:solidFill>
                  <a:srgbClr val="25D366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8183" y="2880360"/>
            <a:ext cx="1143000" cy="7315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200" b="0">
                <a:solidFill>
                  <a:srgbClr val="B0BEC5"/>
                </a:solidFill>
                <a:latin typeface="Segoe UI"/>
              </a:defRPr>
            </a:pPr>
            <a:r>
              <a:t>التحقق من</a:t>
            </a:r>
            <a:br/>
            <a:r>
              <a:t>النشاط التجاري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3863" y="2651760"/>
            <a:ext cx="27432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800" b="0">
                <a:solidFill>
                  <a:srgbClr val="25D366"/>
                </a:solidFill>
                <a:latin typeface="Segoe UI"/>
              </a:defRPr>
            </a:pPr>
            <a:r>
              <a:t>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93431" y="2011680"/>
            <a:ext cx="1234440" cy="164592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25D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93431" y="2103120"/>
            <a:ext cx="123444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2800" b="0">
                <a:solidFill>
                  <a:srgbClr val="FFFFFF"/>
                </a:solidFill>
                <a:latin typeface="Segoe UI"/>
              </a:defRPr>
            </a:pPr>
            <a:r>
              <a:t>👨‍💻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93431" y="2514600"/>
            <a:ext cx="123444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2000" b="1">
                <a:solidFill>
                  <a:srgbClr val="25D366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39151" y="2880360"/>
            <a:ext cx="1143000" cy="7315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200" b="0">
                <a:solidFill>
                  <a:srgbClr val="B0BEC5"/>
                </a:solidFill>
                <a:latin typeface="Segoe UI"/>
              </a:defRPr>
            </a:pPr>
            <a:r>
              <a:t>إنشاء تطبيق</a:t>
            </a:r>
            <a:br/>
            <a:r>
              <a:t>Meta Developer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64831" y="2651760"/>
            <a:ext cx="27432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800" b="0">
                <a:solidFill>
                  <a:srgbClr val="25D366"/>
                </a:solidFill>
                <a:latin typeface="Segoe UI"/>
              </a:defRPr>
            </a:pPr>
            <a:r>
              <a:t>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94399" y="2011680"/>
            <a:ext cx="1234440" cy="164592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25D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94399" y="2103120"/>
            <a:ext cx="123444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2800" b="0">
                <a:solidFill>
                  <a:srgbClr val="FFFFFF"/>
                </a:solidFill>
                <a:latin typeface="Segoe UI"/>
              </a:defRPr>
            </a:pPr>
            <a:r>
              <a:t>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4399" y="2514600"/>
            <a:ext cx="123444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2000" b="1">
                <a:solidFill>
                  <a:srgbClr val="25D366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0119" y="2880360"/>
            <a:ext cx="1143000" cy="7315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200" b="0">
                <a:solidFill>
                  <a:srgbClr val="B0BEC5"/>
                </a:solidFill>
                <a:latin typeface="Segoe UI"/>
              </a:defRPr>
            </a:pPr>
            <a:r>
              <a:t>إعداد رقم</a:t>
            </a:r>
            <a:br/>
            <a:r>
              <a:t>واتساب بيزنس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65799" y="2651760"/>
            <a:ext cx="27432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800" b="0">
                <a:solidFill>
                  <a:srgbClr val="25D366"/>
                </a:solidFill>
                <a:latin typeface="Segoe UI"/>
              </a:defRPr>
            </a:pPr>
            <a:r>
              <a:t>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95367" y="2011680"/>
            <a:ext cx="1234440" cy="164592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25D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995367" y="2103120"/>
            <a:ext cx="123444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2800" b="0">
                <a:solidFill>
                  <a:srgbClr val="FFFFFF"/>
                </a:solidFill>
                <a:latin typeface="Segoe UI"/>
              </a:defRPr>
            </a:pPr>
            <a:r>
              <a:t>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95367" y="2514600"/>
            <a:ext cx="123444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2000" b="1">
                <a:solidFill>
                  <a:srgbClr val="25D366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41087" y="2880360"/>
            <a:ext cx="1143000" cy="7315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200" b="0">
                <a:solidFill>
                  <a:srgbClr val="B0BEC5"/>
                </a:solidFill>
                <a:latin typeface="Segoe UI"/>
              </a:defRPr>
            </a:pPr>
            <a:r>
              <a:t>الحصول على</a:t>
            </a:r>
            <a:br/>
            <a:r>
              <a:t>Access Token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66767" y="2651760"/>
            <a:ext cx="27432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800" b="0">
                <a:solidFill>
                  <a:srgbClr val="25D366"/>
                </a:solidFill>
                <a:latin typeface="Segoe UI"/>
              </a:defRPr>
            </a:pPr>
            <a:r>
              <a:t>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596335" y="2011680"/>
            <a:ext cx="1234440" cy="164592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25D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596335" y="2103120"/>
            <a:ext cx="123444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2800" b="0">
                <a:solidFill>
                  <a:srgbClr val="FFFFFF"/>
                </a:solidFill>
                <a:latin typeface="Segoe UI"/>
              </a:defRPr>
            </a:pPr>
            <a:r>
              <a:t>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96335" y="2514600"/>
            <a:ext cx="123444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2000" b="1">
                <a:solidFill>
                  <a:srgbClr val="25D366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42055" y="2880360"/>
            <a:ext cx="1143000" cy="7315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200" b="0">
                <a:solidFill>
                  <a:srgbClr val="B0BEC5"/>
                </a:solidFill>
                <a:latin typeface="Segoe UI"/>
              </a:defRPr>
            </a:pPr>
            <a:r>
              <a:t>إعداد</a:t>
            </a:r>
            <a:br/>
            <a:r>
              <a:t>Webhook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67735" y="2651760"/>
            <a:ext cx="27432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800" b="0">
                <a:solidFill>
                  <a:srgbClr val="25D366"/>
                </a:solidFill>
                <a:latin typeface="Segoe UI"/>
              </a:defRPr>
            </a:pPr>
            <a:r>
              <a:t>←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197303" y="2011680"/>
            <a:ext cx="1234440" cy="164592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25D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197303" y="2103120"/>
            <a:ext cx="123444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2800" b="0">
                <a:solidFill>
                  <a:srgbClr val="FFFFFF"/>
                </a:solidFill>
                <a:latin typeface="Segoe UI"/>
              </a:defRPr>
            </a:pPr>
            <a:r>
              <a:t>⚙️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97303" y="2514600"/>
            <a:ext cx="123444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2000" b="1">
                <a:solidFill>
                  <a:srgbClr val="25D366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3023" y="2880360"/>
            <a:ext cx="1143000" cy="7315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200" b="0">
                <a:solidFill>
                  <a:srgbClr val="B0BEC5"/>
                </a:solidFill>
                <a:latin typeface="Segoe UI"/>
              </a:defRPr>
            </a:pPr>
            <a:r>
              <a:t>تكوين</a:t>
            </a:r>
            <a:br/>
            <a:r>
              <a:t>المنصة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8703" y="2651760"/>
            <a:ext cx="27432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800" b="0">
                <a:solidFill>
                  <a:srgbClr val="25D366"/>
                </a:solidFill>
                <a:latin typeface="Segoe UI"/>
              </a:defRPr>
            </a:pPr>
            <a:r>
              <a:t>←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8271" y="2011680"/>
            <a:ext cx="1234440" cy="164592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98271" y="2103120"/>
            <a:ext cx="123444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2800" b="0">
                <a:solidFill>
                  <a:srgbClr val="FFFFFF"/>
                </a:solidFill>
                <a:latin typeface="Segoe UI"/>
              </a:defRPr>
            </a:pPr>
            <a:r>
              <a:t>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8271" y="2514600"/>
            <a:ext cx="123444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2000" b="1">
                <a:solidFill>
                  <a:srgbClr val="FFD54F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3991" y="2880360"/>
            <a:ext cx="1143000" cy="7315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200" b="0">
                <a:solidFill>
                  <a:srgbClr val="B0BEC5"/>
                </a:solidFill>
                <a:latin typeface="Segoe UI"/>
              </a:defRPr>
            </a:pPr>
            <a:r>
              <a:t>اختبار</a:t>
            </a:r>
            <a:br/>
            <a:r>
              <a:t>التكامل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4114800"/>
            <a:ext cx="11247120" cy="41148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400" b="0">
                <a:solidFill>
                  <a:srgbClr val="B0BEC5"/>
                </a:solidFill>
                <a:latin typeface="Segoe UI"/>
              </a:defRPr>
            </a:pPr>
            <a:r>
              <a:t>🔴  الخطوات 1-4 إلزامية ولا يمكن تجاوز أي منها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526280"/>
            <a:ext cx="11247120" cy="41148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400" b="0">
                <a:solidFill>
                  <a:srgbClr val="B0BEC5"/>
                </a:solidFill>
                <a:latin typeface="Segoe UI"/>
              </a:defRPr>
            </a:pPr>
            <a:r>
              <a:rPr dirty="0"/>
              <a:t>🔑  </a:t>
            </a:r>
            <a:r>
              <a:rPr dirty="0" err="1"/>
              <a:t>الخطوة</a:t>
            </a:r>
            <a:r>
              <a:rPr dirty="0"/>
              <a:t> 5: </a:t>
            </a:r>
            <a:r>
              <a:rPr dirty="0" err="1"/>
              <a:t>يجب</a:t>
            </a:r>
            <a:r>
              <a:rPr dirty="0"/>
              <a:t> </a:t>
            </a:r>
            <a:r>
              <a:rPr dirty="0" err="1"/>
              <a:t>إنشاء</a:t>
            </a:r>
            <a:r>
              <a:rPr dirty="0"/>
              <a:t> Permanent Token </a:t>
            </a:r>
            <a:r>
              <a:rPr dirty="0" err="1"/>
              <a:t>للإنتاج</a:t>
            </a:r>
            <a:r>
              <a:rPr dirty="0"/>
              <a:t> (</a:t>
            </a:r>
            <a:r>
              <a:rPr dirty="0" err="1"/>
              <a:t>المؤقت</a:t>
            </a:r>
            <a:r>
              <a:rPr dirty="0"/>
              <a:t> </a:t>
            </a:r>
            <a:r>
              <a:rPr dirty="0" err="1"/>
              <a:t>صالح</a:t>
            </a:r>
            <a:r>
              <a:rPr dirty="0"/>
              <a:t> 24 </a:t>
            </a:r>
            <a:r>
              <a:rPr dirty="0" err="1"/>
              <a:t>ساعة</a:t>
            </a:r>
            <a:r>
              <a:rPr dirty="0"/>
              <a:t> </a:t>
            </a:r>
            <a:r>
              <a:rPr dirty="0" err="1"/>
              <a:t>فقط</a:t>
            </a:r>
            <a:r>
              <a:rPr dirty="0"/>
              <a:t>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4937760"/>
            <a:ext cx="11247120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400" b="0">
                <a:solidFill>
                  <a:srgbClr val="B0BEC5"/>
                </a:solidFill>
                <a:latin typeface="Segoe UI"/>
              </a:defRPr>
            </a:pPr>
            <a:r>
              <a:rPr dirty="0"/>
              <a:t>🌐  </a:t>
            </a:r>
            <a:r>
              <a:rPr dirty="0" err="1"/>
              <a:t>الخطوة</a:t>
            </a:r>
            <a:r>
              <a:rPr dirty="0"/>
              <a:t> 6: </a:t>
            </a:r>
            <a:r>
              <a:rPr dirty="0" err="1"/>
              <a:t>تحتاج</a:t>
            </a:r>
            <a:r>
              <a:rPr dirty="0"/>
              <a:t> </a:t>
            </a:r>
            <a:r>
              <a:rPr dirty="0" err="1"/>
              <a:t>سيرفر</a:t>
            </a:r>
            <a:r>
              <a:rPr dirty="0"/>
              <a:t> </a:t>
            </a:r>
            <a:r>
              <a:rPr dirty="0" err="1"/>
              <a:t>بعنوان</a:t>
            </a:r>
            <a:r>
              <a:rPr lang="en-US" dirty="0" err="1"/>
              <a:t>HTTPS</a:t>
            </a:r>
            <a:r>
              <a:rPr dirty="0"/>
              <a:t> </a:t>
            </a:r>
            <a:r>
              <a:rPr dirty="0" err="1"/>
              <a:t>ثابت</a:t>
            </a:r>
            <a:r>
              <a:rPr dirty="0"/>
              <a:t> </a:t>
            </a:r>
            <a:r>
              <a:rPr dirty="0" err="1"/>
              <a:t>يعمل</a:t>
            </a:r>
            <a:r>
              <a:rPr dirty="0"/>
              <a:t> 24/7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5349240"/>
            <a:ext cx="11247120" cy="41148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400" b="0">
                <a:solidFill>
                  <a:srgbClr val="B0BEC5"/>
                </a:solidFill>
                <a:latin typeface="Segoe UI"/>
              </a:defRPr>
            </a:pPr>
            <a:r>
              <a:rPr dirty="0"/>
              <a:t>🏢  </a:t>
            </a:r>
            <a:r>
              <a:rPr dirty="0" err="1"/>
              <a:t>جميع</a:t>
            </a:r>
            <a:r>
              <a:rPr dirty="0"/>
              <a:t> </a:t>
            </a:r>
            <a:r>
              <a:rPr dirty="0" err="1"/>
              <a:t>هذه</a:t>
            </a:r>
            <a:r>
              <a:rPr dirty="0"/>
              <a:t> </a:t>
            </a:r>
            <a:r>
              <a:rPr dirty="0" err="1"/>
              <a:t>الخطوات</a:t>
            </a:r>
            <a:r>
              <a:rPr dirty="0"/>
              <a:t> </a:t>
            </a:r>
            <a:r>
              <a:rPr dirty="0" err="1"/>
              <a:t>تتطلب</a:t>
            </a:r>
            <a:r>
              <a:rPr dirty="0"/>
              <a:t> </a:t>
            </a:r>
            <a:r>
              <a:rPr dirty="0" err="1"/>
              <a:t>شركة</a:t>
            </a:r>
            <a:r>
              <a:rPr dirty="0"/>
              <a:t> </a:t>
            </a:r>
            <a:r>
              <a:rPr dirty="0" err="1"/>
              <a:t>متخصصة</a:t>
            </a:r>
            <a:r>
              <a:rPr dirty="0"/>
              <a:t> </a:t>
            </a:r>
            <a:r>
              <a:rPr dirty="0" err="1"/>
              <a:t>للتنفيذ</a:t>
            </a:r>
            <a:r>
              <a:rPr dirty="0"/>
              <a:t> </a:t>
            </a:r>
            <a:r>
              <a:rPr dirty="0" err="1"/>
              <a:t>والإدارة</a:t>
            </a:r>
            <a:endParaRPr dirty="0"/>
          </a:p>
        </p:txBody>
      </p:sp>
      <p:sp>
        <p:nvSpPr>
          <p:cNvPr id="48" name="TextBox 4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1">
              <a:defRPr sz="1100" b="0">
                <a:solidFill>
                  <a:srgbClr val="B0BEC5"/>
                </a:solidFill>
                <a:latin typeface="Segoe UI"/>
              </a:defRPr>
            </a:pPr>
            <a: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3200" b="1">
                <a:solidFill>
                  <a:srgbClr val="25D366"/>
                </a:solidFill>
                <a:latin typeface="Segoe UI"/>
              </a:defRPr>
            </a:pPr>
            <a:r>
              <a:t>💰  نموذج التسعير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800" b="0">
                <a:solidFill>
                  <a:srgbClr val="B0BEC5"/>
                </a:solidFill>
                <a:latin typeface="Segoe UI"/>
              </a:defRPr>
            </a:pPr>
            <a:r>
              <a:t>التسعير بالمحادثة (Conversation-Based) – وليس بعدد الرسائل أو حجمها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82735" y="1737360"/>
            <a:ext cx="2651760" cy="274320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25D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082735" y="1874520"/>
            <a:ext cx="265176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2000" b="1">
                <a:solidFill>
                  <a:srgbClr val="25D366"/>
                </a:solidFill>
                <a:latin typeface="Segoe UI"/>
              </a:defRPr>
            </a:pPr>
            <a:r>
              <a:t>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82735" y="2240280"/>
            <a:ext cx="265176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محادثات خدمة العملاء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82735" y="2651760"/>
            <a:ext cx="2651760" cy="5486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مجاني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82735" y="3154680"/>
            <a:ext cx="2651760" cy="2743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100" b="0">
                <a:solidFill>
                  <a:srgbClr val="B0BEC5"/>
                </a:solidFill>
                <a:latin typeface="Segoe UI"/>
              </a:defRPr>
            </a:pPr>
            <a:r>
              <a:t>أول 1000/شهر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82735" y="3657600"/>
            <a:ext cx="265176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100" b="0">
                <a:solidFill>
                  <a:srgbClr val="B0BEC5"/>
                </a:solidFill>
                <a:latin typeface="Segoe UI"/>
              </a:defRPr>
            </a:pPr>
            <a:r>
              <a:t>مثال: رد على استفسار العميل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2375" y="1737360"/>
            <a:ext cx="2651760" cy="274320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02375" y="1874520"/>
            <a:ext cx="265176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2000" b="1">
                <a:solidFill>
                  <a:srgbClr val="00A8FF"/>
                </a:solidFill>
                <a:latin typeface="Segoe UI"/>
              </a:defRPr>
            </a:pPr>
            <a:r>
              <a:t>Authentication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2375" y="2240280"/>
            <a:ext cx="265176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رسائل المصادقة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2375" y="2651760"/>
            <a:ext cx="2651760" cy="5486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~$0.005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2375" y="3154680"/>
            <a:ext cx="2651760" cy="2743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100" b="0">
                <a:solidFill>
                  <a:srgbClr val="B0BEC5"/>
                </a:solidFill>
                <a:latin typeface="Segoe UI"/>
              </a:defRPr>
            </a:pPr>
            <a:r>
              <a:t>لكل محادثة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2375" y="3657600"/>
            <a:ext cx="265176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100" b="0">
                <a:solidFill>
                  <a:srgbClr val="B0BEC5"/>
                </a:solidFill>
                <a:latin typeface="Segoe UI"/>
              </a:defRPr>
            </a:pPr>
            <a:r>
              <a:t>مثال: OTP، رمز تحقق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22015" y="1737360"/>
            <a:ext cx="2651760" cy="274320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22015" y="1874520"/>
            <a:ext cx="265176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2000" b="1">
                <a:solidFill>
                  <a:srgbClr val="FF9800"/>
                </a:solidFill>
                <a:latin typeface="Segoe UI"/>
              </a:defRPr>
            </a:pPr>
            <a:r>
              <a:t>Utility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22015" y="2240280"/>
            <a:ext cx="265176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رسائل خدمية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22015" y="2651760"/>
            <a:ext cx="2651760" cy="5486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~$0.008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22015" y="3154680"/>
            <a:ext cx="2651760" cy="2743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100" b="0">
                <a:solidFill>
                  <a:srgbClr val="B0BEC5"/>
                </a:solidFill>
                <a:latin typeface="Segoe UI"/>
              </a:defRPr>
            </a:pPr>
            <a:r>
              <a:t>لكل محادثة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22015" y="3657600"/>
            <a:ext cx="265176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100" b="0">
                <a:solidFill>
                  <a:srgbClr val="B0BEC5"/>
                </a:solidFill>
                <a:latin typeface="Segoe UI"/>
              </a:defRPr>
            </a:pPr>
            <a:r>
              <a:t>مثال: تأكيد طلب، إشعار شحن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1655" y="1737360"/>
            <a:ext cx="2651760" cy="274320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FF53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1655" y="1874520"/>
            <a:ext cx="265176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2000" b="1">
                <a:solidFill>
                  <a:srgbClr val="FF5352"/>
                </a:solidFill>
                <a:latin typeface="Segoe UI"/>
              </a:defRPr>
            </a:pPr>
            <a:r>
              <a:t>Marketing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1655" y="2240280"/>
            <a:ext cx="265176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رسائل تسويقية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1655" y="2651760"/>
            <a:ext cx="2651760" cy="5486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~$0.014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655" y="3154680"/>
            <a:ext cx="2651760" cy="2743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100" b="0">
                <a:solidFill>
                  <a:srgbClr val="B0BEC5"/>
                </a:solidFill>
                <a:latin typeface="Segoe UI"/>
              </a:defRPr>
            </a:pPr>
            <a:r>
              <a:t>لكل محادثة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1655" y="3657600"/>
            <a:ext cx="265176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100" b="0">
                <a:solidFill>
                  <a:srgbClr val="B0BEC5"/>
                </a:solidFill>
                <a:latin typeface="Segoe UI"/>
              </a:defRPr>
            </a:pPr>
            <a:r>
              <a:t>مثال: عروض، خصومات، إعلانات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754880"/>
            <a:ext cx="11247120" cy="41148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500" b="0">
                <a:solidFill>
                  <a:srgbClr val="FFD54F"/>
                </a:solidFill>
                <a:latin typeface="Segoe UI"/>
              </a:defRPr>
            </a:pPr>
            <a:r>
              <a:t>✅  المحادثة = نافذة 24 ساعة – أرسل عدد غير محدود من الرسائل بنفس التكلفة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193792"/>
            <a:ext cx="11247120" cy="41148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500" b="0">
                <a:solidFill>
                  <a:srgbClr val="FFD54F"/>
                </a:solidFill>
                <a:latin typeface="Segoe UI"/>
              </a:defRPr>
            </a:pPr>
            <a:r>
              <a:t>✅  الحجم لا يؤثر على السعر – نص صغير أو ملف 100MB = نفس تكلفة المحادثة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632704"/>
            <a:ext cx="11247120" cy="41148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500" b="0">
                <a:solidFill>
                  <a:srgbClr val="FFD54F"/>
                </a:solidFill>
                <a:latin typeface="Segoe UI"/>
              </a:defRPr>
            </a:pPr>
            <a:r>
              <a:t>✅  1000 محادثة خدمية مجانية شهرياً لكل حساب – الأسعار تختلف حسب البلد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1">
              <a:defRPr sz="1100" b="0">
                <a:solidFill>
                  <a:srgbClr val="B0BEC5"/>
                </a:solidFill>
                <a:latin typeface="Segoe UI"/>
              </a:defRPr>
            </a:pPr>
            <a: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3200" b="1">
                <a:solidFill>
                  <a:srgbClr val="25D366"/>
                </a:solidFill>
                <a:latin typeface="Segoe UI"/>
              </a:defRPr>
            </a:pPr>
            <a:r>
              <a:t>📈  حدود الرسائل – المستويات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800" b="0">
                <a:solidFill>
                  <a:srgbClr val="B0BEC5"/>
                </a:solidFill>
                <a:latin typeface="Segoe UI"/>
              </a:defRPr>
            </a:pPr>
            <a:r>
              <a:t>الحدود تتعلق بعدد المحادثات الجديدة/يوم – وليس حجم الرسالة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22815" y="1828800"/>
            <a:ext cx="2011680" cy="256032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722815" y="1965960"/>
            <a:ext cx="201168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800" b="1">
                <a:solidFill>
                  <a:srgbClr val="B0BEC5"/>
                </a:solidFill>
                <a:latin typeface="Segoe UI"/>
              </a:defRPr>
            </a:pPr>
            <a:r>
              <a:t>Unverified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22815" y="2468880"/>
            <a:ext cx="2011680" cy="5486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250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3017520"/>
            <a:ext cx="2011680" cy="2743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000" b="0">
                <a:solidFill>
                  <a:srgbClr val="B0BEC5"/>
                </a:solidFill>
                <a:latin typeface="Segoe UI"/>
              </a:defRPr>
            </a:pPr>
            <a:r>
              <a:t>محادثة / 24 ساعة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4255" y="3474720"/>
            <a:ext cx="1828800" cy="7315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200" b="0">
                <a:solidFill>
                  <a:srgbClr val="B0BEC5"/>
                </a:solidFill>
                <a:latin typeface="Segoe UI"/>
              </a:defRPr>
            </a:pPr>
            <a:r>
              <a:t>حساب جديد</a:t>
            </a:r>
            <a:br/>
            <a:r>
              <a:t>غير مُحقق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39935" y="2743200"/>
            <a:ext cx="32004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2200" b="0">
                <a:solidFill>
                  <a:srgbClr val="B0BEC5"/>
                </a:solidFill>
                <a:latin typeface="Segoe UI"/>
              </a:defRPr>
            </a:pPr>
            <a:r>
              <a:t>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82535" y="1828800"/>
            <a:ext cx="2011680" cy="256032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82535" y="1965960"/>
            <a:ext cx="201168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800" b="1">
                <a:solidFill>
                  <a:srgbClr val="00A8FF"/>
                </a:solidFill>
                <a:latin typeface="Segoe UI"/>
              </a:defRPr>
            </a:pPr>
            <a:r>
              <a:t>Tier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82535" y="2468880"/>
            <a:ext cx="2011680" cy="5486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1,000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82535" y="3017520"/>
            <a:ext cx="2011680" cy="2743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000" b="0">
                <a:solidFill>
                  <a:srgbClr val="B0BEC5"/>
                </a:solidFill>
                <a:latin typeface="Segoe UI"/>
              </a:defRPr>
            </a:pPr>
            <a:r>
              <a:t>محادثة / 24 ساعة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73975" y="3474720"/>
            <a:ext cx="1828800" cy="7315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200" b="0">
                <a:solidFill>
                  <a:srgbClr val="B0BEC5"/>
                </a:solidFill>
                <a:latin typeface="Segoe UI"/>
              </a:defRPr>
            </a:pPr>
            <a:r>
              <a:t>بعد التحقق من</a:t>
            </a:r>
            <a:br/>
            <a:r>
              <a:t>النشاط التجاري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9655" y="2743200"/>
            <a:ext cx="32004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2200" b="0">
                <a:solidFill>
                  <a:srgbClr val="00A8FF"/>
                </a:solidFill>
                <a:latin typeface="Segoe UI"/>
              </a:defRPr>
            </a:pPr>
            <a:r>
              <a:t>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42255" y="1828800"/>
            <a:ext cx="2011680" cy="256032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2255" y="1965960"/>
            <a:ext cx="201168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800" b="1">
                <a:solidFill>
                  <a:srgbClr val="FF9800"/>
                </a:solidFill>
                <a:latin typeface="Segoe UI"/>
              </a:defRPr>
            </a:pPr>
            <a:r>
              <a:t>Tier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42255" y="2468880"/>
            <a:ext cx="2011680" cy="5486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10,000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2255" y="3017520"/>
            <a:ext cx="2011680" cy="2743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000" b="0">
                <a:solidFill>
                  <a:srgbClr val="B0BEC5"/>
                </a:solidFill>
                <a:latin typeface="Segoe UI"/>
              </a:defRPr>
            </a:pPr>
            <a:r>
              <a:t>محادثة / 24 ساعة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3695" y="3474720"/>
            <a:ext cx="1828800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>
              <a:defRPr sz="1200" b="0">
                <a:solidFill>
                  <a:srgbClr val="B0BEC5"/>
                </a:solidFill>
                <a:latin typeface="Segoe UI"/>
              </a:defRPr>
            </a:pPr>
            <a:r>
              <a:rPr dirty="0" err="1"/>
              <a:t>ترقية</a:t>
            </a:r>
            <a:r>
              <a:rPr dirty="0"/>
              <a:t> </a:t>
            </a:r>
            <a:r>
              <a:rPr dirty="0" err="1"/>
              <a:t>تلقائية</a:t>
            </a:r>
            <a:br>
              <a:rPr lang="en-US" dirty="0"/>
            </a:br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5059375" y="2743200"/>
            <a:ext cx="32004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2200" b="0">
                <a:solidFill>
                  <a:srgbClr val="FF9800"/>
                </a:solidFill>
                <a:latin typeface="Segoe UI"/>
              </a:defRPr>
            </a:pPr>
            <a:r>
              <a:t>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01975" y="1828800"/>
            <a:ext cx="2011680" cy="256032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25D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001975" y="1965960"/>
            <a:ext cx="201168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800" b="1">
                <a:solidFill>
                  <a:srgbClr val="25D366"/>
                </a:solidFill>
                <a:latin typeface="Segoe UI"/>
              </a:defRPr>
            </a:pPr>
            <a:r>
              <a:t>Tier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01975" y="2468880"/>
            <a:ext cx="2011680" cy="5486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100,000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01975" y="3017520"/>
            <a:ext cx="2011680" cy="2743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000" b="0">
                <a:solidFill>
                  <a:srgbClr val="B0BEC5"/>
                </a:solidFill>
                <a:latin typeface="Segoe UI"/>
              </a:defRPr>
            </a:pPr>
            <a:r>
              <a:t>محادثة / 24 ساعة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93415" y="3474720"/>
            <a:ext cx="1828800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>
              <a:defRPr sz="1200" b="0">
                <a:solidFill>
                  <a:srgbClr val="B0BEC5"/>
                </a:solidFill>
                <a:latin typeface="Segoe UI"/>
              </a:defRPr>
            </a:pPr>
            <a:r>
              <a:rPr lang="ar-EG" dirty="0"/>
              <a:t>ترقية تلقائية</a:t>
            </a:r>
            <a:br>
              <a:rPr lang="ar-EG" dirty="0"/>
            </a:br>
            <a:endParaRPr lang="ar-EG" dirty="0"/>
          </a:p>
        </p:txBody>
      </p:sp>
      <p:sp>
        <p:nvSpPr>
          <p:cNvPr id="28" name="TextBox 27"/>
          <p:cNvSpPr txBox="1"/>
          <p:nvPr/>
        </p:nvSpPr>
        <p:spPr>
          <a:xfrm>
            <a:off x="2819095" y="2743200"/>
            <a:ext cx="32004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2200" b="0">
                <a:solidFill>
                  <a:srgbClr val="25D366"/>
                </a:solidFill>
                <a:latin typeface="Segoe UI"/>
              </a:defRPr>
            </a:pPr>
            <a:r>
              <a:t>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1695" y="1828800"/>
            <a:ext cx="2011680" cy="256032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61695" y="1965960"/>
            <a:ext cx="201168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800" b="1">
                <a:solidFill>
                  <a:srgbClr val="FFD54F"/>
                </a:solidFill>
                <a:latin typeface="Segoe UI"/>
              </a:defRPr>
            </a:pPr>
            <a:r>
              <a:t>Tier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1695" y="2468880"/>
            <a:ext cx="2011680" cy="5486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غير محدود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1695" y="3017520"/>
            <a:ext cx="2011680" cy="2743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000" b="0">
                <a:solidFill>
                  <a:srgbClr val="B0BEC5"/>
                </a:solidFill>
                <a:latin typeface="Segoe UI"/>
              </a:defRPr>
            </a:pPr>
            <a:r>
              <a:t>محادثة / 24 ساعة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3135" y="3474720"/>
            <a:ext cx="1828800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>
              <a:defRPr sz="1200" b="0">
                <a:solidFill>
                  <a:srgbClr val="B0BEC5"/>
                </a:solidFill>
                <a:latin typeface="Segoe UI"/>
              </a:defRPr>
            </a:pPr>
            <a:r>
              <a:rPr lang="ar-EG" dirty="0"/>
              <a:t>ترقية تلقائية</a:t>
            </a:r>
            <a:br>
              <a:rPr lang="ar-EG" dirty="0"/>
            </a:br>
            <a:endParaRPr lang="ar-EG" dirty="0"/>
          </a:p>
        </p:txBody>
      </p:sp>
      <p:sp>
        <p:nvSpPr>
          <p:cNvPr id="34" name="Rounded Rectangle 33"/>
          <p:cNvSpPr/>
          <p:nvPr/>
        </p:nvSpPr>
        <p:spPr>
          <a:xfrm>
            <a:off x="640080" y="4754880"/>
            <a:ext cx="10789920" cy="164592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128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4400" y="4892040"/>
            <a:ext cx="1033272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⚠️  تقييم الجودة (Quality Rating) يؤثر على مستواك: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5303520"/>
            <a:ext cx="365760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>
              <a:defRPr sz="1400" b="1">
                <a:solidFill>
                  <a:srgbClr val="25D366"/>
                </a:solidFill>
                <a:latin typeface="Segoe UI"/>
              </a:defRPr>
            </a:pPr>
            <a:r>
              <a:rPr dirty="0"/>
              <a:t>🟢  High (</a:t>
            </a:r>
            <a:r>
              <a:rPr dirty="0" err="1"/>
              <a:t>أخضر</a:t>
            </a:r>
            <a:r>
              <a:rPr dirty="0"/>
              <a:t>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5303520"/>
            <a:ext cx="594360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ممتاز – ترقية ممكنة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5650992"/>
            <a:ext cx="365760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>
              <a:defRPr sz="1400" b="1">
                <a:solidFill>
                  <a:srgbClr val="FF9800"/>
                </a:solidFill>
                <a:latin typeface="Segoe UI"/>
              </a:defRPr>
            </a:pPr>
            <a:r>
              <a:rPr dirty="0"/>
              <a:t>🟡  Medium (</a:t>
            </a:r>
            <a:r>
              <a:rPr dirty="0" err="1"/>
              <a:t>أصفر</a:t>
            </a:r>
            <a:r>
              <a:rPr dirty="0"/>
              <a:t>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" y="5650992"/>
            <a:ext cx="594360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متوسط – لا ترقية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5998464"/>
            <a:ext cx="365760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>
              <a:defRPr sz="1400" b="1">
                <a:solidFill>
                  <a:srgbClr val="FF5352"/>
                </a:solidFill>
                <a:latin typeface="Segoe UI"/>
              </a:defRPr>
            </a:pPr>
            <a:r>
              <a:rPr dirty="0"/>
              <a:t>🔴  Low (</a:t>
            </a:r>
            <a:r>
              <a:rPr dirty="0" err="1"/>
              <a:t>أحمر</a:t>
            </a:r>
            <a:r>
              <a:rPr dirty="0"/>
              <a:t>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" y="5998464"/>
            <a:ext cx="594360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rPr dirty="0" err="1"/>
              <a:t>خطر</a:t>
            </a:r>
            <a:r>
              <a:rPr dirty="0"/>
              <a:t> – </a:t>
            </a:r>
            <a:r>
              <a:rPr dirty="0" err="1"/>
              <a:t>قد</a:t>
            </a:r>
            <a:r>
              <a:rPr dirty="0"/>
              <a:t> </a:t>
            </a:r>
            <a:r>
              <a:rPr dirty="0" err="1"/>
              <a:t>يتم</a:t>
            </a:r>
            <a:r>
              <a:rPr dirty="0"/>
              <a:t> </a:t>
            </a:r>
            <a:r>
              <a:rPr dirty="0" err="1"/>
              <a:t>تخفيض</a:t>
            </a:r>
            <a:r>
              <a:rPr dirty="0"/>
              <a:t> </a:t>
            </a:r>
            <a:r>
              <a:rPr dirty="0" err="1"/>
              <a:t>المستوى</a:t>
            </a:r>
            <a:r>
              <a:rPr dirty="0"/>
              <a:t> </a:t>
            </a:r>
            <a:r>
              <a:rPr dirty="0" err="1"/>
              <a:t>أو</a:t>
            </a:r>
            <a:r>
              <a:rPr dirty="0"/>
              <a:t> </a:t>
            </a:r>
            <a:r>
              <a:rPr dirty="0" err="1"/>
              <a:t>إيقاف</a:t>
            </a:r>
            <a:r>
              <a:rPr dirty="0"/>
              <a:t> </a:t>
            </a:r>
            <a:r>
              <a:rPr dirty="0" err="1"/>
              <a:t>الحساب</a:t>
            </a:r>
            <a:endParaRPr dirty="0"/>
          </a:p>
        </p:txBody>
      </p:sp>
      <p:sp>
        <p:nvSpPr>
          <p:cNvPr id="42" name="TextBox 41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1">
              <a:defRPr sz="1100" b="0">
                <a:solidFill>
                  <a:srgbClr val="B0BEC5"/>
                </a:solidFill>
                <a:latin typeface="Segoe UI"/>
              </a:defRPr>
            </a:pPr>
            <a: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3200" b="1">
                <a:solidFill>
                  <a:srgbClr val="25D366"/>
                </a:solidFill>
                <a:latin typeface="Segoe UI"/>
              </a:defRPr>
            </a:pPr>
            <a:r>
              <a:t>📎  أنواع الرسائل والمرفقات المدعومة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800" b="0">
                <a:solidFill>
                  <a:srgbClr val="B0BEC5"/>
                </a:solidFill>
                <a:latin typeface="Segoe UI"/>
              </a:defRPr>
            </a:pPr>
            <a:r>
              <a:t>دعم كامل لجميع أنواع الوسائط – الحجم لا يؤثر على التكلفة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31375" y="1737360"/>
            <a:ext cx="2103120" cy="137160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128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31375" y="1828800"/>
            <a:ext cx="210312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📝  نص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31375" y="2331720"/>
            <a:ext cx="210312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300" b="0">
                <a:solidFill>
                  <a:srgbClr val="25D366"/>
                </a:solidFill>
                <a:latin typeface="Segoe UI"/>
              </a:defRPr>
            </a:pPr>
            <a:r>
              <a:t>الحد الأقصى: 4,096 حرف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45375" y="1737360"/>
            <a:ext cx="2103120" cy="137160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128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45375" y="1828800"/>
            <a:ext cx="210312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🖼️  صورة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45375" y="2331720"/>
            <a:ext cx="210312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300" b="0">
                <a:solidFill>
                  <a:srgbClr val="25D366"/>
                </a:solidFill>
                <a:latin typeface="Segoe UI"/>
              </a:defRPr>
            </a:pPr>
            <a:r>
              <a:t>الحد الأقصى: 5 MB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59375" y="1737360"/>
            <a:ext cx="2103120" cy="137160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128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59375" y="1828800"/>
            <a:ext cx="210312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🎬  فيديو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59375" y="2331720"/>
            <a:ext cx="210312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300" b="0">
                <a:solidFill>
                  <a:srgbClr val="25D366"/>
                </a:solidFill>
                <a:latin typeface="Segoe UI"/>
              </a:defRPr>
            </a:pPr>
            <a:r>
              <a:t>الحد الأقصى: 16 MB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73375" y="1737360"/>
            <a:ext cx="2103120" cy="137160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128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73375" y="1828800"/>
            <a:ext cx="210312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🎵  صوت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73375" y="2331720"/>
            <a:ext cx="210312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300" b="0">
                <a:solidFill>
                  <a:srgbClr val="25D366"/>
                </a:solidFill>
                <a:latin typeface="Segoe UI"/>
              </a:defRPr>
            </a:pPr>
            <a:r>
              <a:t>الحد الأقصى: 16 MB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7375" y="1737360"/>
            <a:ext cx="2103120" cy="137160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128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7375" y="1828800"/>
            <a:ext cx="210312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📄  مستند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7375" y="2331720"/>
            <a:ext cx="210312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300" b="0">
                <a:solidFill>
                  <a:srgbClr val="25D366"/>
                </a:solidFill>
                <a:latin typeface="Segoe UI"/>
              </a:defRPr>
            </a:pPr>
            <a:r>
              <a:t>الحد الأقصى: 100 MB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31375" y="3291840"/>
            <a:ext cx="2103120" cy="137160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128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31375" y="3383280"/>
            <a:ext cx="210312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😀  ملصق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31375" y="3886200"/>
            <a:ext cx="210312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300" b="0">
                <a:solidFill>
                  <a:srgbClr val="25D366"/>
                </a:solidFill>
                <a:latin typeface="Segoe UI"/>
              </a:defRPr>
            </a:pPr>
            <a:r>
              <a:t>الحد الأقصى: 500 KB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45375" y="3291840"/>
            <a:ext cx="2103120" cy="137160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128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45375" y="3383280"/>
            <a:ext cx="210312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📍  موقع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45375" y="3886200"/>
            <a:ext cx="210312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300" b="0">
                <a:solidFill>
                  <a:srgbClr val="25D366"/>
                </a:solidFill>
                <a:latin typeface="Segoe UI"/>
              </a:defRPr>
            </a:pPr>
            <a:r>
              <a:t>الحد الأقصى: GPS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59375" y="3291840"/>
            <a:ext cx="2103120" cy="137160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128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59375" y="3383280"/>
            <a:ext cx="210312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👤  جهة اتصال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59375" y="3886200"/>
            <a:ext cx="210312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300" b="0">
                <a:solidFill>
                  <a:srgbClr val="25D366"/>
                </a:solidFill>
                <a:latin typeface="Segoe UI"/>
              </a:defRPr>
            </a:pPr>
            <a:r>
              <a:t>الحد الأقصى: vCard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73375" y="3291840"/>
            <a:ext cx="2103120" cy="137160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128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773375" y="3383280"/>
            <a:ext cx="210312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🔘  تفاعلي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73375" y="3886200"/>
            <a:ext cx="210312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300" b="0">
                <a:solidFill>
                  <a:srgbClr val="25D366"/>
                </a:solidFill>
                <a:latin typeface="Segoe UI"/>
              </a:defRPr>
            </a:pPr>
            <a:r>
              <a:t>الحد الأقصى: أزرار + قوائم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7375" y="3291840"/>
            <a:ext cx="2103120" cy="137160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128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87375" y="3383280"/>
            <a:ext cx="210312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📋  قالب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7375" y="3886200"/>
            <a:ext cx="210312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300" b="0">
                <a:solidFill>
                  <a:srgbClr val="25D366"/>
                </a:solidFill>
                <a:latin typeface="Segoe UI"/>
              </a:defRPr>
            </a:pPr>
            <a:r>
              <a:t>الحد الأقصى: معتمد من Meta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937760"/>
            <a:ext cx="1124712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400" b="0">
                <a:solidFill>
                  <a:srgbClr val="B0BEC5"/>
                </a:solidFill>
                <a:latin typeface="Segoe UI"/>
              </a:defRPr>
            </a:pPr>
            <a:r>
              <a:t>📌  الصيغ المدعومة: JPEG, PNG, MP4, MP3, OGG, PDF, DOC, XLSX, PPT وغيرها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394960"/>
            <a:ext cx="1124712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400" b="0">
                <a:solidFill>
                  <a:srgbClr val="FFD54F"/>
                </a:solidFill>
                <a:latin typeface="Segoe UI"/>
              </a:defRPr>
            </a:pPr>
            <a:r>
              <a:t>💡  يمكن الإرسال عبر رابط URL أو رفع مباشر – مع إمكانية إضافة تعليق (Caption) لكل مرفق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1">
              <a:defRPr sz="1100" b="0">
                <a:solidFill>
                  <a:srgbClr val="B0BEC5"/>
                </a:solidFill>
                <a:latin typeface="Segoe UI"/>
              </a:defRPr>
            </a:pPr>
            <a: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3200" b="1">
                <a:solidFill>
                  <a:srgbClr val="25D366"/>
                </a:solidFill>
                <a:latin typeface="Segoe UI"/>
              </a:defRPr>
            </a:pPr>
            <a:r>
              <a:t>🖥️  لماذا المنصة المتخصصة إلزامية؟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800" b="0">
                <a:solidFill>
                  <a:srgbClr val="B0BEC5"/>
                </a:solidFill>
                <a:latin typeface="Segoe UI"/>
              </a:defRPr>
            </a:pPr>
            <a:r>
              <a:t>الرقم المرتبط بـ Cloud API لا يعمل على تطبيق الهاتف – يحتاج منصة إدارة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515600" cy="137160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FF53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1051560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2000" b="1">
                <a:solidFill>
                  <a:srgbClr val="FF5352"/>
                </a:solidFill>
                <a:latin typeface="Segoe UI"/>
              </a:defRPr>
            </a:pPr>
            <a:r>
              <a:t>❌  بدون منصة متخصصة: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10515600" cy="5486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600" b="0">
                <a:solidFill>
                  <a:srgbClr val="B0BEC5"/>
                </a:solidFill>
                <a:latin typeface="Segoe UI"/>
              </a:defRPr>
            </a:pPr>
            <a:r>
              <a:t>❌ لا إدارة  ←  ❌ لا استقبال  ←  ❌ لا إرسال  ←  ❌ لا يعمل على التطبيق  ←  🔗 مرتبط بـ Cloud API  ←  📱 الرقم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74720"/>
            <a:ext cx="10515600" cy="137160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25D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3611880"/>
            <a:ext cx="1051560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2000" b="1">
                <a:solidFill>
                  <a:srgbClr val="25D366"/>
                </a:solidFill>
                <a:latin typeface="Segoe UI"/>
              </a:defRPr>
            </a:pPr>
            <a:r>
              <a:t>✅  مع منصة متخصصة: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10515600" cy="5486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✅ تقارير  ←  ✅ أتمتة  ←  ✅ حملات  ←  ✅ صندوق وارد  ←  🖥️ منصة إدارة  ←  🔗 Cloud API  ←  📱 الرقم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5029200"/>
            <a:ext cx="5303520" cy="2743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200" b="0">
                <a:solidFill>
                  <a:srgbClr val="25D366"/>
                </a:solidFill>
                <a:latin typeface="Segoe UI"/>
              </a:defRPr>
            </a:pPr>
            <a:r>
              <a:t>✅  صندوق وارد كامل ومنظم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200" b="0">
                <a:solidFill>
                  <a:srgbClr val="FF5352"/>
                </a:solidFill>
                <a:latin typeface="Segoe UI"/>
              </a:defRPr>
            </a:pPr>
            <a:r>
              <a:t>❌  لا يمكن رؤية الرسائل الواردة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5303520"/>
            <a:ext cx="5303520" cy="2743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200" b="0">
                <a:solidFill>
                  <a:srgbClr val="25D366"/>
                </a:solidFill>
                <a:latin typeface="Segoe UI"/>
              </a:defRPr>
            </a:pPr>
            <a:r>
              <a:t>✅  رد فوري مع مرفقات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303520"/>
            <a:ext cx="5303520" cy="2743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200" b="0">
                <a:solidFill>
                  <a:srgbClr val="FF5352"/>
                </a:solidFill>
                <a:latin typeface="Segoe UI"/>
              </a:defRPr>
            </a:pPr>
            <a:r>
              <a:t>❌  لا يمكن الرد على العملاء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5577840"/>
            <a:ext cx="5303520" cy="2743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200" b="0">
                <a:solidFill>
                  <a:srgbClr val="25D366"/>
                </a:solidFill>
                <a:latin typeface="Segoe UI"/>
              </a:defRPr>
            </a:pPr>
            <a:r>
              <a:t>✅  حملات جماعية بضغطة زر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577840"/>
            <a:ext cx="5303520" cy="2743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200" b="0">
                <a:solidFill>
                  <a:srgbClr val="FF5352"/>
                </a:solidFill>
                <a:latin typeface="Segoe UI"/>
              </a:defRPr>
            </a:pPr>
            <a:r>
              <a:t>❌  إرسال فردي يدوي عبر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5852160"/>
            <a:ext cx="5303520" cy="2743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200" b="0">
                <a:solidFill>
                  <a:srgbClr val="25D366"/>
                </a:solidFill>
                <a:latin typeface="Segoe UI"/>
              </a:defRPr>
            </a:pPr>
            <a:r>
              <a:t>✅  أتمتة ذكية + فورم تفاعلي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852160"/>
            <a:ext cx="5303520" cy="2743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200" b="0">
                <a:solidFill>
                  <a:srgbClr val="FF5352"/>
                </a:solidFill>
                <a:latin typeface="Segoe UI"/>
              </a:defRPr>
            </a:pPr>
            <a:r>
              <a:t>❌  لا أتمتة أو ردود تلقائية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6126480"/>
            <a:ext cx="5303520" cy="2743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200" b="0">
                <a:solidFill>
                  <a:srgbClr val="25D366"/>
                </a:solidFill>
                <a:latin typeface="Segoe UI"/>
              </a:defRPr>
            </a:pPr>
            <a:r>
              <a:t>✅  تحليلات مفصلة + تقييم الجودة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126480"/>
            <a:ext cx="5303520" cy="2743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200" b="0">
                <a:solidFill>
                  <a:srgbClr val="FF5352"/>
                </a:solidFill>
                <a:latin typeface="Segoe UI"/>
              </a:defRPr>
            </a:pPr>
            <a:r>
              <a:t>❌  لا تقارير أو تحليلات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6400800"/>
            <a:ext cx="5303520" cy="2743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200" b="0">
                <a:solidFill>
                  <a:srgbClr val="25D366"/>
                </a:solidFill>
                <a:latin typeface="Segoe UI"/>
              </a:defRPr>
            </a:pPr>
            <a:r>
              <a:t>✅  فريق عمل متعدد بصلاحيات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00800"/>
            <a:ext cx="5303520" cy="2743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200" b="0">
                <a:solidFill>
                  <a:srgbClr val="FF5352"/>
                </a:solidFill>
                <a:latin typeface="Segoe UI"/>
              </a:defRPr>
            </a:pPr>
            <a:r>
              <a:t>❌  موظف واحد فقط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1">
              <a:defRPr sz="1100" b="0">
                <a:solidFill>
                  <a:srgbClr val="B0BEC5"/>
                </a:solidFill>
                <a:latin typeface="Segoe UI"/>
              </a:defRPr>
            </a:pPr>
            <a: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3200" b="1">
                <a:solidFill>
                  <a:srgbClr val="25D366"/>
                </a:solidFill>
                <a:latin typeface="Segoe UI"/>
              </a:defRPr>
            </a:pPr>
            <a:r>
              <a:t>🤖  الأتمتة الذكية والتفاعل مع العملاء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800" b="0">
                <a:solidFill>
                  <a:srgbClr val="B0BEC5"/>
                </a:solidFill>
                <a:latin typeface="Segoe UI"/>
              </a:defRPr>
            </a:pPr>
            <a:r>
              <a:t>سيناريوهات تفاعلية + فورم تعريفي + ربط بقواعد البيانات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30975" y="1645920"/>
            <a:ext cx="5303520" cy="411480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25D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68135" y="1783080"/>
            <a:ext cx="502920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2000" b="1">
                <a:solidFill>
                  <a:srgbClr val="25D366"/>
                </a:solidFill>
                <a:latin typeface="Segoe UI"/>
              </a:defRPr>
            </a:pPr>
            <a:r>
              <a:t>🔘  الخيارات التفاعلية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13855" y="2331720"/>
            <a:ext cx="493776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•  أزرار الرد السريع (Quick Reply) – حتى 3 أزرار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13855" y="2642616"/>
            <a:ext cx="493776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•  قوائم الاختيار (List Messages) – حتى 10 خيارات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13855" y="2953512"/>
            <a:ext cx="493776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•  أزرار الروابط (URL Buttons) – توجيه لموقع محدد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3855" y="3264408"/>
            <a:ext cx="493776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•  أزرار الاتصال (Call Buttons) – اتصال مباشر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3855" y="3575304"/>
            <a:ext cx="493776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•  سيناريوهات متعددة المراحل (Multi-step Flows)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3855" y="3886200"/>
            <a:ext cx="493776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•  توجيه ذكي للعملاء حسب اختياراتهم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3855" y="4197096"/>
            <a:ext cx="493776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•  تحويل للموظف المختص عند الحاجة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645920"/>
            <a:ext cx="5577840" cy="2002536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1783080"/>
            <a:ext cx="530352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700" b="1">
                <a:solidFill>
                  <a:srgbClr val="00A8FF"/>
                </a:solidFill>
                <a:latin typeface="Segoe UI"/>
              </a:defRPr>
            </a:pPr>
            <a:r>
              <a:t>📝  فورم تعريفي تفاعلي (WhatsApp Flows)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331720"/>
            <a:ext cx="530352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•  جمع بيانات التسجيل (الاسم، البريد، الهاتف، العنوان)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651760"/>
            <a:ext cx="530352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•  استبيانات رضا العملاء + نماذج الطلبات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2971800"/>
            <a:ext cx="530352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•  نماذج حجز المواعيد + تقييم الخدمة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291840"/>
            <a:ext cx="530352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rPr dirty="0"/>
              <a:t>•  </a:t>
            </a:r>
            <a:r>
              <a:rPr dirty="0" err="1"/>
              <a:t>البيانات</a:t>
            </a:r>
            <a:r>
              <a:rPr dirty="0"/>
              <a:t> </a:t>
            </a:r>
            <a:r>
              <a:rPr dirty="0" err="1"/>
              <a:t>تُحفظ</a:t>
            </a:r>
            <a:r>
              <a:rPr dirty="0"/>
              <a:t> </a:t>
            </a:r>
            <a:r>
              <a:rPr dirty="0" err="1"/>
              <a:t>تلقائياً</a:t>
            </a:r>
            <a:r>
              <a:rPr dirty="0"/>
              <a:t> </a:t>
            </a:r>
            <a:r>
              <a:rPr dirty="0" err="1"/>
              <a:t>في</a:t>
            </a:r>
            <a:r>
              <a:rPr dirty="0"/>
              <a:t> </a:t>
            </a:r>
            <a:r>
              <a:rPr dirty="0" err="1"/>
              <a:t>قاعدة</a:t>
            </a:r>
            <a:r>
              <a:rPr dirty="0"/>
              <a:t> </a:t>
            </a:r>
            <a:r>
              <a:rPr dirty="0" err="1"/>
              <a:t>بيانات</a:t>
            </a:r>
            <a:r>
              <a:rPr dirty="0"/>
              <a:t> </a:t>
            </a:r>
            <a:r>
              <a:rPr dirty="0" err="1"/>
              <a:t>العميل</a:t>
            </a:r>
            <a:r>
              <a:rPr dirty="0"/>
              <a:t> (CRM)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749038"/>
            <a:ext cx="5577840" cy="2157985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3886200"/>
            <a:ext cx="530352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700" b="1">
                <a:solidFill>
                  <a:srgbClr val="FF9800"/>
                </a:solidFill>
                <a:latin typeface="Segoe UI"/>
              </a:defRPr>
            </a:pPr>
            <a:r>
              <a:t>🗄️  الربط بقواعد البيانات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434840"/>
            <a:ext cx="530352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rPr dirty="0"/>
              <a:t>•  </a:t>
            </a:r>
            <a:r>
              <a:rPr dirty="0" err="1"/>
              <a:t>بيانات</a:t>
            </a:r>
            <a:r>
              <a:rPr dirty="0"/>
              <a:t> </a:t>
            </a:r>
            <a:r>
              <a:rPr dirty="0" err="1"/>
              <a:t>الفورم</a:t>
            </a:r>
            <a:r>
              <a:rPr dirty="0"/>
              <a:t> </a:t>
            </a:r>
            <a:r>
              <a:rPr dirty="0" err="1"/>
              <a:t>تُخزّن</a:t>
            </a:r>
            <a:r>
              <a:rPr dirty="0"/>
              <a:t> </a:t>
            </a:r>
            <a:r>
              <a:rPr dirty="0" err="1"/>
              <a:t>في</a:t>
            </a:r>
            <a:r>
              <a:rPr dirty="0"/>
              <a:t> </a:t>
            </a:r>
            <a:r>
              <a:rPr dirty="0" err="1"/>
              <a:t>سجل</a:t>
            </a:r>
            <a:r>
              <a:rPr dirty="0"/>
              <a:t> </a:t>
            </a:r>
            <a:r>
              <a:rPr dirty="0" err="1"/>
              <a:t>العميل</a:t>
            </a:r>
            <a:r>
              <a:rPr dirty="0"/>
              <a:t> </a:t>
            </a:r>
            <a:r>
              <a:rPr dirty="0" err="1"/>
              <a:t>تلقائياً</a:t>
            </a:r>
            <a:endParaRPr dirty="0"/>
          </a:p>
        </p:txBody>
      </p:sp>
      <p:sp>
        <p:nvSpPr>
          <p:cNvPr id="23" name="TextBox 22"/>
          <p:cNvSpPr txBox="1"/>
          <p:nvPr/>
        </p:nvSpPr>
        <p:spPr>
          <a:xfrm>
            <a:off x="594360" y="4736592"/>
            <a:ext cx="530352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•  تصنيف تلقائي للعملاء بناءً على اختياراتهم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038344"/>
            <a:ext cx="530352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•  سجل كامل لكل محادثة وتفاعل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340096"/>
            <a:ext cx="530352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•  تنبيهات للموظفين عند الحاجة لتدخل بشري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641848"/>
            <a:ext cx="5303520" cy="3200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•  تقارير وتحليلات عن أنماط تفاعل العملاء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943600"/>
            <a:ext cx="11247120" cy="64008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1400" b="1">
                <a:solidFill>
                  <a:srgbClr val="FFD54F"/>
                </a:solidFill>
                <a:latin typeface="Segoe UI"/>
              </a:defRPr>
            </a:pPr>
            <a:r>
              <a:t>💡  مثال: العميل يتواصل ← يختار من القائمة ← يملأ الفورم ← البيانات تتخزن تلقائياً ← يتم توجيهه للموظف المختص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1">
              <a:defRPr sz="1100" b="0">
                <a:solidFill>
                  <a:srgbClr val="B0BEC5"/>
                </a:solidFill>
                <a:latin typeface="Segoe UI"/>
              </a:defRPr>
            </a:pPr>
            <a: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3200" b="1">
                <a:solidFill>
                  <a:srgbClr val="25D366"/>
                </a:solidFill>
                <a:latin typeface="Segoe UI"/>
              </a:defRPr>
            </a:pPr>
            <a:r>
              <a:t>✅  مميزات المنصة المتكاملة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800" b="0">
                <a:solidFill>
                  <a:srgbClr val="B0BEC5"/>
                </a:solidFill>
                <a:latin typeface="Segoe UI"/>
              </a:defRPr>
            </a:pPr>
            <a:r>
              <a:t>كل ما تحتاجه لإدارة واتساب بيزنس في مكان واحد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28455" y="1645920"/>
            <a:ext cx="2697480" cy="201168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128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219895" y="1737360"/>
            <a:ext cx="2514600" cy="41148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600" b="1">
                <a:solidFill>
                  <a:srgbClr val="25D366"/>
                </a:solidFill>
                <a:latin typeface="Segoe UI"/>
              </a:defRPr>
            </a:pPr>
            <a:r>
              <a:t>📨  صندوق الوارد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65615" y="2194560"/>
            <a:ext cx="2423160" cy="29260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200" b="0">
                <a:solidFill>
                  <a:srgbClr val="B0BEC5"/>
                </a:solidFill>
                <a:latin typeface="Segoe UI"/>
              </a:defRPr>
            </a:pPr>
            <a:r>
              <a:t>•  عرض جميع المحادثات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65615" y="2468880"/>
            <a:ext cx="2423160" cy="29260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200" b="0">
                <a:solidFill>
                  <a:srgbClr val="B0BEC5"/>
                </a:solidFill>
                <a:latin typeface="Segoe UI"/>
              </a:defRPr>
            </a:pPr>
            <a:r>
              <a:t>•  الرد مع مرفقات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65615" y="2743200"/>
            <a:ext cx="2423160" cy="29260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200" b="0">
                <a:solidFill>
                  <a:srgbClr val="B0BEC5"/>
                </a:solidFill>
                <a:latin typeface="Segoe UI"/>
              </a:defRPr>
            </a:pPr>
            <a:r>
              <a:t>•  تعيين لموظفين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095" y="1645920"/>
            <a:ext cx="2697480" cy="201168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128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9535" y="1737360"/>
            <a:ext cx="2514600" cy="41148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600" b="1">
                <a:solidFill>
                  <a:srgbClr val="25D366"/>
                </a:solidFill>
                <a:latin typeface="Segoe UI"/>
              </a:defRPr>
            </a:pPr>
            <a:r>
              <a:t>👥  إدارة العملاء CRM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5255" y="2194560"/>
            <a:ext cx="2423160" cy="29260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200" b="0">
                <a:solidFill>
                  <a:srgbClr val="B0BEC5"/>
                </a:solidFill>
                <a:latin typeface="Segoe UI"/>
              </a:defRPr>
            </a:pPr>
            <a:r>
              <a:t>•  قاعدة بيانات شاملة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5255" y="2468880"/>
            <a:ext cx="2423160" cy="29260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200" b="0">
                <a:solidFill>
                  <a:srgbClr val="B0BEC5"/>
                </a:solidFill>
                <a:latin typeface="Segoe UI"/>
              </a:defRPr>
            </a:pPr>
            <a:r>
              <a:t>•  تصنيف وتقسيم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5255" y="2743200"/>
            <a:ext cx="2423160" cy="29260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200" b="0">
                <a:solidFill>
                  <a:srgbClr val="B0BEC5"/>
                </a:solidFill>
                <a:latin typeface="Segoe UI"/>
              </a:defRPr>
            </a:pPr>
            <a:r>
              <a:t>•  استيراد وتصدير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67735" y="1645920"/>
            <a:ext cx="2697480" cy="201168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128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59175" y="1737360"/>
            <a:ext cx="2514600" cy="41148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600" b="1">
                <a:solidFill>
                  <a:srgbClr val="25D366"/>
                </a:solidFill>
                <a:latin typeface="Segoe UI"/>
              </a:defRPr>
            </a:pPr>
            <a:r>
              <a:t>📢  الحملات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4895" y="2194560"/>
            <a:ext cx="2423160" cy="29260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200" b="0">
                <a:solidFill>
                  <a:srgbClr val="B0BEC5"/>
                </a:solidFill>
                <a:latin typeface="Segoe UI"/>
              </a:defRPr>
            </a:pPr>
            <a:r>
              <a:t>•  رسائل جماعية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4895" y="2468880"/>
            <a:ext cx="2423160" cy="29260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200" b="0">
                <a:solidFill>
                  <a:srgbClr val="B0BEC5"/>
                </a:solidFill>
                <a:latin typeface="Segoe UI"/>
              </a:defRPr>
            </a:pPr>
            <a:r>
              <a:t>•  جدولة الإرسال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4895" y="2743200"/>
            <a:ext cx="2423160" cy="29260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200" b="0">
                <a:solidFill>
                  <a:srgbClr val="B0BEC5"/>
                </a:solidFill>
                <a:latin typeface="Segoe UI"/>
              </a:defRPr>
            </a:pPr>
            <a:r>
              <a:t>•  تتبع النتائج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7375" y="1645920"/>
            <a:ext cx="2697480" cy="201168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128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78815" y="1737360"/>
            <a:ext cx="2514600" cy="41148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600" b="1">
                <a:solidFill>
                  <a:srgbClr val="25D366"/>
                </a:solidFill>
                <a:latin typeface="Segoe UI"/>
              </a:defRPr>
            </a:pPr>
            <a:r>
              <a:t>🤖  الأتمتة الذكية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4535" y="2194560"/>
            <a:ext cx="2423160" cy="29260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200" b="0">
                <a:solidFill>
                  <a:srgbClr val="B0BEC5"/>
                </a:solidFill>
                <a:latin typeface="Segoe UI"/>
              </a:defRPr>
            </a:pPr>
            <a:r>
              <a:t>•  ردود تلقائية + Chatbots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" y="2468880"/>
            <a:ext cx="2423160" cy="29260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200" b="0">
                <a:solidFill>
                  <a:srgbClr val="B0BEC5"/>
                </a:solidFill>
                <a:latin typeface="Segoe UI"/>
              </a:defRPr>
            </a:pPr>
            <a:r>
              <a:t>•  فورم تعريفي تفاعلي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4535" y="2743200"/>
            <a:ext cx="2423160" cy="29260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200" b="0">
                <a:solidFill>
                  <a:srgbClr val="B0BEC5"/>
                </a:solidFill>
                <a:latin typeface="Segoe UI"/>
              </a:defRPr>
            </a:pPr>
            <a:r>
              <a:t>•  ربط بقواعد البيانات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28455" y="3840480"/>
            <a:ext cx="2697480" cy="201168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128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219895" y="3931920"/>
            <a:ext cx="2514600" cy="41148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600" b="1">
                <a:solidFill>
                  <a:srgbClr val="25D366"/>
                </a:solidFill>
                <a:latin typeface="Segoe UI"/>
              </a:defRPr>
            </a:pPr>
            <a:r>
              <a:t>📊  التقارير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65615" y="4389120"/>
            <a:ext cx="2423160" cy="29260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200" b="0">
                <a:solidFill>
                  <a:srgbClr val="B0BEC5"/>
                </a:solidFill>
                <a:latin typeface="Segoe UI"/>
              </a:defRPr>
            </a:pPr>
            <a:r>
              <a:t>•  معدلات التسليم والقراءة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65615" y="4663440"/>
            <a:ext cx="2423160" cy="29260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200" b="0">
                <a:solidFill>
                  <a:srgbClr val="B0BEC5"/>
                </a:solidFill>
                <a:latin typeface="Segoe UI"/>
              </a:defRPr>
            </a:pPr>
            <a:r>
              <a:t>•  أداء الحملات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65615" y="4937760"/>
            <a:ext cx="2423160" cy="29260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200" b="0">
                <a:solidFill>
                  <a:srgbClr val="B0BEC5"/>
                </a:solidFill>
                <a:latin typeface="Segoe UI"/>
              </a:defRPr>
            </a:pPr>
            <a:r>
              <a:t>•  تقييم الجودة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48095" y="3840480"/>
            <a:ext cx="2697480" cy="201168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128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39535" y="3931920"/>
            <a:ext cx="2514600" cy="41148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600" b="1">
                <a:solidFill>
                  <a:srgbClr val="25D366"/>
                </a:solidFill>
                <a:latin typeface="Segoe UI"/>
              </a:defRPr>
            </a:pPr>
            <a:r>
              <a:t>📋  القوالب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5255" y="4389120"/>
            <a:ext cx="2423160" cy="29260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200" b="0">
                <a:solidFill>
                  <a:srgbClr val="B0BEC5"/>
                </a:solidFill>
                <a:latin typeface="Segoe UI"/>
              </a:defRPr>
            </a:pPr>
            <a:r>
              <a:t>•  إنشاء وإدارة القوالب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5255" y="4663440"/>
            <a:ext cx="2423160" cy="29260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200" b="0">
                <a:solidFill>
                  <a:srgbClr val="B0BEC5"/>
                </a:solidFill>
                <a:latin typeface="Segoe UI"/>
              </a:defRPr>
            </a:pPr>
            <a:r>
              <a:t>•  متابعة الاعتماد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85255" y="4937760"/>
            <a:ext cx="2423160" cy="29260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200" b="0">
                <a:solidFill>
                  <a:srgbClr val="B0BEC5"/>
                </a:solidFill>
                <a:latin typeface="Segoe UI"/>
              </a:defRPr>
            </a:pPr>
            <a:r>
              <a:t>•  اختبار قبل الإرسال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67735" y="3840480"/>
            <a:ext cx="2697480" cy="201168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128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459175" y="3931920"/>
            <a:ext cx="2514600" cy="41148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600" b="1">
                <a:solidFill>
                  <a:srgbClr val="25D366"/>
                </a:solidFill>
                <a:latin typeface="Segoe UI"/>
              </a:defRPr>
            </a:pPr>
            <a:r>
              <a:t>👥  المستخدمين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04895" y="4389120"/>
            <a:ext cx="2423160" cy="29260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200" b="0">
                <a:solidFill>
                  <a:srgbClr val="B0BEC5"/>
                </a:solidFill>
                <a:latin typeface="Segoe UI"/>
              </a:defRPr>
            </a:pPr>
            <a:r>
              <a:t>•  صلاحيات وأدوار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04895" y="4663440"/>
            <a:ext cx="2423160" cy="29260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200" b="0">
                <a:solidFill>
                  <a:srgbClr val="B0BEC5"/>
                </a:solidFill>
                <a:latin typeface="Segoe UI"/>
              </a:defRPr>
            </a:pPr>
            <a:r>
              <a:t>•  فريق عمل متعدد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04895" y="4937760"/>
            <a:ext cx="2423160" cy="29260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200" b="0">
                <a:solidFill>
                  <a:srgbClr val="B0BEC5"/>
                </a:solidFill>
                <a:latin typeface="Segoe UI"/>
              </a:defRPr>
            </a:pPr>
            <a:r>
              <a:t>•  سجل العمليات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87375" y="3840480"/>
            <a:ext cx="2697480" cy="2011680"/>
          </a:xfrm>
          <a:prstGeom prst="roundRect">
            <a:avLst/>
          </a:prstGeom>
          <a:solidFill>
            <a:srgbClr val="1A2A36"/>
          </a:solidFill>
          <a:ln w="19050">
            <a:solidFill>
              <a:srgbClr val="128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78815" y="3931920"/>
            <a:ext cx="2514600" cy="41148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600" b="1">
                <a:solidFill>
                  <a:srgbClr val="25D366"/>
                </a:solidFill>
                <a:latin typeface="Segoe UI"/>
              </a:defRPr>
            </a:pPr>
            <a:r>
              <a:t>🔔  الإشعارات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4535" y="4389120"/>
            <a:ext cx="2423160" cy="29260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200" b="0">
                <a:solidFill>
                  <a:srgbClr val="B0BEC5"/>
                </a:solidFill>
                <a:latin typeface="Segoe UI"/>
              </a:defRPr>
            </a:pPr>
            <a:r>
              <a:t>•  إشعارات فورية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4535" y="4663440"/>
            <a:ext cx="2423160" cy="29260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200" b="0">
                <a:solidFill>
                  <a:srgbClr val="B0BEC5"/>
                </a:solidFill>
                <a:latin typeface="Segoe UI"/>
              </a:defRPr>
            </a:pPr>
            <a:r>
              <a:t>•  تنبيهات ذكية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4535" y="4937760"/>
            <a:ext cx="2423160" cy="29260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200" b="0">
                <a:solidFill>
                  <a:srgbClr val="B0BEC5"/>
                </a:solidFill>
                <a:latin typeface="Segoe UI"/>
              </a:defRPr>
            </a:pPr>
            <a:r>
              <a:t>•  متابعة الأحداث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1">
              <a:defRPr sz="1100" b="0">
                <a:solidFill>
                  <a:srgbClr val="B0BEC5"/>
                </a:solidFill>
                <a:latin typeface="Segoe UI"/>
              </a:defRPr>
            </a:pPr>
            <a: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3600" b="1">
                <a:solidFill>
                  <a:srgbClr val="25D366"/>
                </a:solidFill>
                <a:latin typeface="Segoe UI"/>
              </a:defRPr>
            </a:pPr>
            <a:r>
              <a:t>📋  الخلاصة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515600" cy="548640"/>
          </a:xfrm>
          <a:prstGeom prst="roundRect">
            <a:avLst/>
          </a:prstGeom>
          <a:solidFill>
            <a:srgbClr val="1A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0" y="1920240"/>
            <a:ext cx="91440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2000" b="1">
                <a:solidFill>
                  <a:srgbClr val="25D366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896112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واتساب Cloud API هو الطريقة الرسمية والأمثل للتواصل المؤسسي مع العملاء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50592"/>
            <a:ext cx="10515600" cy="548640"/>
          </a:xfrm>
          <a:prstGeom prst="roundRect">
            <a:avLst/>
          </a:prstGeom>
          <a:solidFill>
            <a:srgbClr val="1A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0" y="2542032"/>
            <a:ext cx="91440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2000" b="1">
                <a:solidFill>
                  <a:srgbClr val="25D366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42032"/>
            <a:ext cx="896112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التسعير بالمحادثة (24 ساعة) – وليس بعدد أو حجم الرسائل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72384"/>
            <a:ext cx="10515600" cy="548640"/>
          </a:xfrm>
          <a:prstGeom prst="roundRect">
            <a:avLst/>
          </a:prstGeom>
          <a:solidFill>
            <a:srgbClr val="1A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0" y="3163824"/>
            <a:ext cx="91440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2000" b="1">
                <a:solidFill>
                  <a:srgbClr val="25D366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63824"/>
            <a:ext cx="896112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حدود الرسائل تعتمد على المستوى وتترقى تلقائياً – غير مرتبطة بالحجم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94176"/>
            <a:ext cx="10515600" cy="548640"/>
          </a:xfrm>
          <a:prstGeom prst="roundRect">
            <a:avLst/>
          </a:prstGeom>
          <a:solidFill>
            <a:srgbClr val="1A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0" y="3785616"/>
            <a:ext cx="91440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2000" b="1">
                <a:solidFill>
                  <a:srgbClr val="25D366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85616"/>
            <a:ext cx="896112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المتطلبات إلزامية: حساب Meta Business + تحقق + رقم مخصص + منصة إدارة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315968"/>
            <a:ext cx="10515600" cy="548640"/>
          </a:xfrm>
          <a:prstGeom prst="roundRect">
            <a:avLst/>
          </a:prstGeom>
          <a:solidFill>
            <a:srgbClr val="1A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0" y="4407408"/>
            <a:ext cx="91440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2000" b="1">
                <a:solidFill>
                  <a:srgbClr val="25D366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407408"/>
            <a:ext cx="896112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الرقم المرتبط بـ API لا يعمل على الهاتف – يحتاج منصة متخصصة إلزامياً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937760"/>
            <a:ext cx="10515600" cy="548640"/>
          </a:xfrm>
          <a:prstGeom prst="roundRect">
            <a:avLst/>
          </a:prstGeom>
          <a:solidFill>
            <a:srgbClr val="1A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0" y="5029200"/>
            <a:ext cx="91440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2000" b="1">
                <a:solidFill>
                  <a:srgbClr val="25D366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029200"/>
            <a:ext cx="896112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تحتاج شركة تقنية متخصصة لإنشاء الحساب وبناء المنصة وإدارة التكامل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559552"/>
            <a:ext cx="10515600" cy="548640"/>
          </a:xfrm>
          <a:prstGeom prst="roundRect">
            <a:avLst/>
          </a:prstGeom>
          <a:solidFill>
            <a:srgbClr val="1A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0" y="5650992"/>
            <a:ext cx="91440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defRPr sz="2000" b="1">
                <a:solidFill>
                  <a:srgbClr val="25D366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50992"/>
            <a:ext cx="896112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المنصة توفر: أتمتة ذكية + فورم تعريفي + ربط بقواعد البيانات + خيارات تفاعلية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766560"/>
            <a:ext cx="12191695" cy="54864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1">
              <a:defRPr sz="1100" b="0">
                <a:solidFill>
                  <a:srgbClr val="B0BEC5"/>
                </a:solidFill>
                <a:latin typeface="Segoe UI"/>
              </a:defRPr>
            </a:pPr>
            <a: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1428</Words>
  <Application>Microsoft Office PowerPoint</Application>
  <PresentationFormat>Widescreen</PresentationFormat>
  <Paragraphs>286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Ashraf Farag allah abdelbake</cp:lastModifiedBy>
  <cp:revision>3</cp:revision>
  <dcterms:created xsi:type="dcterms:W3CDTF">2013-01-27T09:14:16Z</dcterms:created>
  <dcterms:modified xsi:type="dcterms:W3CDTF">2026-03-09T05:04:44Z</dcterms:modified>
  <cp:category/>
</cp:coreProperties>
</file>